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72" r:id="rId4"/>
    <p:sldId id="271" r:id="rId5"/>
    <p:sldId id="276" r:id="rId6"/>
    <p:sldId id="258" r:id="rId7"/>
    <p:sldId id="275" r:id="rId8"/>
    <p:sldId id="269" r:id="rId9"/>
    <p:sldId id="263" r:id="rId10"/>
    <p:sldId id="273" r:id="rId11"/>
    <p:sldId id="267" r:id="rId12"/>
    <p:sldId id="270" r:id="rId13"/>
    <p:sldId id="256" r:id="rId14"/>
    <p:sldId id="264" r:id="rId15"/>
    <p:sldId id="259" r:id="rId16"/>
    <p:sldId id="265" r:id="rId17"/>
    <p:sldId id="266" r:id="rId18"/>
    <p:sldId id="274" r:id="rId19"/>
    <p:sldId id="261" r:id="rId20"/>
    <p:sldId id="268" r:id="rId21"/>
    <p:sldId id="277" r:id="rId2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A18F"/>
    <a:srgbClr val="D68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5DA0B-0F61-4FD3-93AC-D6C6E5756C63}" v="24" dt="2025-05-02T07:20:13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8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que Bontemps" userId="b39270e9-63b3-454e-8b19-c953696b0d5a" providerId="ADAL" clId="{1375DA0B-0F61-4FD3-93AC-D6C6E5756C63}"/>
    <pc:docChg chg="undo redo custSel addSld delSld modSld">
      <pc:chgData name="Dominique Bontemps" userId="b39270e9-63b3-454e-8b19-c953696b0d5a" providerId="ADAL" clId="{1375DA0B-0F61-4FD3-93AC-D6C6E5756C63}" dt="2025-05-02T07:21:14.072" v="1599" actId="20577"/>
      <pc:docMkLst>
        <pc:docMk/>
      </pc:docMkLst>
      <pc:sldChg chg="addSp delSp modSp mod">
        <pc:chgData name="Dominique Bontemps" userId="b39270e9-63b3-454e-8b19-c953696b0d5a" providerId="ADAL" clId="{1375DA0B-0F61-4FD3-93AC-D6C6E5756C63}" dt="2025-04-30T09:16:16.973" v="1304" actId="1076"/>
        <pc:sldMkLst>
          <pc:docMk/>
          <pc:sldMk cId="2103016806" sldId="257"/>
        </pc:sldMkLst>
        <pc:spChg chg="mod">
          <ac:chgData name="Dominique Bontemps" userId="b39270e9-63b3-454e-8b19-c953696b0d5a" providerId="ADAL" clId="{1375DA0B-0F61-4FD3-93AC-D6C6E5756C63}" dt="2025-04-30T08:11:25.612" v="804" actId="20577"/>
          <ac:spMkLst>
            <pc:docMk/>
            <pc:sldMk cId="2103016806" sldId="257"/>
            <ac:spMk id="2" creationId="{D36CBA16-62F4-09F7-01DC-CF73E21DC78C}"/>
          </ac:spMkLst>
        </pc:spChg>
        <pc:spChg chg="add mod">
          <ac:chgData name="Dominique Bontemps" userId="b39270e9-63b3-454e-8b19-c953696b0d5a" providerId="ADAL" clId="{1375DA0B-0F61-4FD3-93AC-D6C6E5756C63}" dt="2025-04-30T08:20:50.553" v="1047" actId="1076"/>
          <ac:spMkLst>
            <pc:docMk/>
            <pc:sldMk cId="2103016806" sldId="257"/>
            <ac:spMk id="7" creationId="{95ABD958-6B0A-FC2E-DA91-31A4FA1BB385}"/>
          </ac:spMkLst>
        </pc:spChg>
        <pc:spChg chg="add mod">
          <ac:chgData name="Dominique Bontemps" userId="b39270e9-63b3-454e-8b19-c953696b0d5a" providerId="ADAL" clId="{1375DA0B-0F61-4FD3-93AC-D6C6E5756C63}" dt="2025-04-30T08:20:50.553" v="1047" actId="1076"/>
          <ac:spMkLst>
            <pc:docMk/>
            <pc:sldMk cId="2103016806" sldId="257"/>
            <ac:spMk id="8" creationId="{1E6F13E6-CE1F-9777-9C88-BACFAB64B4A1}"/>
          </ac:spMkLst>
        </pc:spChg>
        <pc:spChg chg="add mod">
          <ac:chgData name="Dominique Bontemps" userId="b39270e9-63b3-454e-8b19-c953696b0d5a" providerId="ADAL" clId="{1375DA0B-0F61-4FD3-93AC-D6C6E5756C63}" dt="2025-04-30T09:16:12.674" v="1303" actId="13926"/>
          <ac:spMkLst>
            <pc:docMk/>
            <pc:sldMk cId="2103016806" sldId="257"/>
            <ac:spMk id="11" creationId="{C32AE7AC-F2A5-ED40-EA4C-87259BD82E0E}"/>
          </ac:spMkLst>
        </pc:spChg>
        <pc:spChg chg="add mod">
          <ac:chgData name="Dominique Bontemps" userId="b39270e9-63b3-454e-8b19-c953696b0d5a" providerId="ADAL" clId="{1375DA0B-0F61-4FD3-93AC-D6C6E5756C63}" dt="2025-04-30T09:16:16.973" v="1304" actId="1076"/>
          <ac:spMkLst>
            <pc:docMk/>
            <pc:sldMk cId="2103016806" sldId="257"/>
            <ac:spMk id="14" creationId="{E0D4D905-2B2A-D8FE-7506-76121A22C4EA}"/>
          </ac:spMkLst>
        </pc:spChg>
        <pc:spChg chg="add mod">
          <ac:chgData name="Dominique Bontemps" userId="b39270e9-63b3-454e-8b19-c953696b0d5a" providerId="ADAL" clId="{1375DA0B-0F61-4FD3-93AC-D6C6E5756C63}" dt="2025-04-30T08:20:50.553" v="1047" actId="1076"/>
          <ac:spMkLst>
            <pc:docMk/>
            <pc:sldMk cId="2103016806" sldId="257"/>
            <ac:spMk id="15" creationId="{F5B1087F-81C9-BD1C-77BA-378141F76502}"/>
          </ac:spMkLst>
        </pc:spChg>
        <pc:spChg chg="add mod">
          <ac:chgData name="Dominique Bontemps" userId="b39270e9-63b3-454e-8b19-c953696b0d5a" providerId="ADAL" clId="{1375DA0B-0F61-4FD3-93AC-D6C6E5756C63}" dt="2025-04-30T08:20:50.553" v="1047" actId="1076"/>
          <ac:spMkLst>
            <pc:docMk/>
            <pc:sldMk cId="2103016806" sldId="257"/>
            <ac:spMk id="17" creationId="{7EF78761-8CB2-D6DA-8545-995D453FFF97}"/>
          </ac:spMkLst>
        </pc:spChg>
        <pc:picChg chg="add mod">
          <ac:chgData name="Dominique Bontemps" userId="b39270e9-63b3-454e-8b19-c953696b0d5a" providerId="ADAL" clId="{1375DA0B-0F61-4FD3-93AC-D6C6E5756C63}" dt="2025-04-30T08:20:50.553" v="1047" actId="1076"/>
          <ac:picMkLst>
            <pc:docMk/>
            <pc:sldMk cId="2103016806" sldId="257"/>
            <ac:picMk id="4" creationId="{D92292B9-6ADD-18F6-65D2-A48CDAAFF68C}"/>
          </ac:picMkLst>
        </pc:picChg>
        <pc:picChg chg="add mod">
          <ac:chgData name="Dominique Bontemps" userId="b39270e9-63b3-454e-8b19-c953696b0d5a" providerId="ADAL" clId="{1375DA0B-0F61-4FD3-93AC-D6C6E5756C63}" dt="2025-04-30T08:20:50.553" v="1047" actId="1076"/>
          <ac:picMkLst>
            <pc:docMk/>
            <pc:sldMk cId="2103016806" sldId="257"/>
            <ac:picMk id="10" creationId="{856316BC-9F36-5D14-FA42-9099478B4817}"/>
          </ac:picMkLst>
        </pc:picChg>
      </pc:sldChg>
      <pc:sldChg chg="addSp delSp modSp mod">
        <pc:chgData name="Dominique Bontemps" userId="b39270e9-63b3-454e-8b19-c953696b0d5a" providerId="ADAL" clId="{1375DA0B-0F61-4FD3-93AC-D6C6E5756C63}" dt="2025-05-02T07:21:07.538" v="1593" actId="20577"/>
        <pc:sldMkLst>
          <pc:docMk/>
          <pc:sldMk cId="1334533663" sldId="263"/>
        </pc:sldMkLst>
        <pc:spChg chg="mod">
          <ac:chgData name="Dominique Bontemps" userId="b39270e9-63b3-454e-8b19-c953696b0d5a" providerId="ADAL" clId="{1375DA0B-0F61-4FD3-93AC-D6C6E5756C63}" dt="2025-05-02T07:21:07.538" v="1593" actId="20577"/>
          <ac:spMkLst>
            <pc:docMk/>
            <pc:sldMk cId="1334533663" sldId="263"/>
            <ac:spMk id="2" creationId="{1CD60342-2F70-F14D-21F6-C2F8D6092854}"/>
          </ac:spMkLst>
        </pc:spChg>
        <pc:spChg chg="mod">
          <ac:chgData name="Dominique Bontemps" userId="b39270e9-63b3-454e-8b19-c953696b0d5a" providerId="ADAL" clId="{1375DA0B-0F61-4FD3-93AC-D6C6E5756C63}" dt="2025-04-30T10:13:56.697" v="1313" actId="20577"/>
          <ac:spMkLst>
            <pc:docMk/>
            <pc:sldMk cId="1334533663" sldId="263"/>
            <ac:spMk id="16" creationId="{4B5B6E32-F8C4-C1C8-75E1-858168ECB190}"/>
          </ac:spMkLst>
        </pc:spChg>
        <pc:spChg chg="add mod">
          <ac:chgData name="Dominique Bontemps" userId="b39270e9-63b3-454e-8b19-c953696b0d5a" providerId="ADAL" clId="{1375DA0B-0F61-4FD3-93AC-D6C6E5756C63}" dt="2025-04-30T09:07:14.561" v="1295" actId="1076"/>
          <ac:spMkLst>
            <pc:docMk/>
            <pc:sldMk cId="1334533663" sldId="263"/>
            <ac:spMk id="21" creationId="{5751C57A-5879-F9B9-6C9F-B20470ABA4D5}"/>
          </ac:spMkLst>
        </pc:spChg>
      </pc:sldChg>
      <pc:sldChg chg="new del">
        <pc:chgData name="Dominique Bontemps" userId="b39270e9-63b3-454e-8b19-c953696b0d5a" providerId="ADAL" clId="{1375DA0B-0F61-4FD3-93AC-D6C6E5756C63}" dt="2025-04-29T14:51:43.350" v="1" actId="47"/>
        <pc:sldMkLst>
          <pc:docMk/>
          <pc:sldMk cId="1691520218" sldId="271"/>
        </pc:sldMkLst>
      </pc:sldChg>
      <pc:sldChg chg="add">
        <pc:chgData name="Dominique Bontemps" userId="b39270e9-63b3-454e-8b19-c953696b0d5a" providerId="ADAL" clId="{1375DA0B-0F61-4FD3-93AC-D6C6E5756C63}" dt="2025-04-29T14:51:47.168" v="2"/>
        <pc:sldMkLst>
          <pc:docMk/>
          <pc:sldMk cId="3424228686" sldId="271"/>
        </pc:sldMkLst>
      </pc:sldChg>
      <pc:sldChg chg="delSp modSp add mod">
        <pc:chgData name="Dominique Bontemps" userId="b39270e9-63b3-454e-8b19-c953696b0d5a" providerId="ADAL" clId="{1375DA0B-0F61-4FD3-93AC-D6C6E5756C63}" dt="2025-04-30T09:15:13.575" v="1300" actId="1076"/>
        <pc:sldMkLst>
          <pc:docMk/>
          <pc:sldMk cId="2016804552" sldId="272"/>
        </pc:sldMkLst>
        <pc:spChg chg="mod">
          <ac:chgData name="Dominique Bontemps" userId="b39270e9-63b3-454e-8b19-c953696b0d5a" providerId="ADAL" clId="{1375DA0B-0F61-4FD3-93AC-D6C6E5756C63}" dt="2025-04-30T08:11:31.411" v="810" actId="20577"/>
          <ac:spMkLst>
            <pc:docMk/>
            <pc:sldMk cId="2016804552" sldId="272"/>
            <ac:spMk id="2" creationId="{E4244FDC-9EF2-844E-8D48-D90C523EEAE2}"/>
          </ac:spMkLst>
        </pc:spChg>
        <pc:spChg chg="mod">
          <ac:chgData name="Dominique Bontemps" userId="b39270e9-63b3-454e-8b19-c953696b0d5a" providerId="ADAL" clId="{1375DA0B-0F61-4FD3-93AC-D6C6E5756C63}" dt="2025-04-30T09:15:01.530" v="1298" actId="13926"/>
          <ac:spMkLst>
            <pc:docMk/>
            <pc:sldMk cId="2016804552" sldId="272"/>
            <ac:spMk id="18" creationId="{1C46CD40-4A0A-607F-273B-2BBEE19413B9}"/>
          </ac:spMkLst>
        </pc:spChg>
        <pc:spChg chg="mod">
          <ac:chgData name="Dominique Bontemps" userId="b39270e9-63b3-454e-8b19-c953696b0d5a" providerId="ADAL" clId="{1375DA0B-0F61-4FD3-93AC-D6C6E5756C63}" dt="2025-04-30T08:28:50.804" v="1166" actId="1076"/>
          <ac:spMkLst>
            <pc:docMk/>
            <pc:sldMk cId="2016804552" sldId="272"/>
            <ac:spMk id="20" creationId="{63E5D7BA-2297-0468-54E7-7639844D006B}"/>
          </ac:spMkLst>
        </pc:spChg>
        <pc:spChg chg="mod">
          <ac:chgData name="Dominique Bontemps" userId="b39270e9-63b3-454e-8b19-c953696b0d5a" providerId="ADAL" clId="{1375DA0B-0F61-4FD3-93AC-D6C6E5756C63}" dt="2025-04-30T08:28:50.804" v="1166" actId="1076"/>
          <ac:spMkLst>
            <pc:docMk/>
            <pc:sldMk cId="2016804552" sldId="272"/>
            <ac:spMk id="21" creationId="{14BD6259-9BF3-83FA-E60B-3EC59BA1D4CB}"/>
          </ac:spMkLst>
        </pc:spChg>
        <pc:spChg chg="mod">
          <ac:chgData name="Dominique Bontemps" userId="b39270e9-63b3-454e-8b19-c953696b0d5a" providerId="ADAL" clId="{1375DA0B-0F61-4FD3-93AC-D6C6E5756C63}" dt="2025-04-30T08:28:50.804" v="1166" actId="1076"/>
          <ac:spMkLst>
            <pc:docMk/>
            <pc:sldMk cId="2016804552" sldId="272"/>
            <ac:spMk id="22" creationId="{3E05BC4B-1463-7D59-985D-8FC21F97A844}"/>
          </ac:spMkLst>
        </pc:spChg>
        <pc:spChg chg="mod">
          <ac:chgData name="Dominique Bontemps" userId="b39270e9-63b3-454e-8b19-c953696b0d5a" providerId="ADAL" clId="{1375DA0B-0F61-4FD3-93AC-D6C6E5756C63}" dt="2025-04-30T08:28:50.804" v="1166" actId="1076"/>
          <ac:spMkLst>
            <pc:docMk/>
            <pc:sldMk cId="2016804552" sldId="272"/>
            <ac:spMk id="23" creationId="{AE69929C-B8A8-4DB8-6B3B-26B6C38C50EE}"/>
          </ac:spMkLst>
        </pc:spChg>
        <pc:spChg chg="mod">
          <ac:chgData name="Dominique Bontemps" userId="b39270e9-63b3-454e-8b19-c953696b0d5a" providerId="ADAL" clId="{1375DA0B-0F61-4FD3-93AC-D6C6E5756C63}" dt="2025-04-30T08:28:50.804" v="1166" actId="1076"/>
          <ac:spMkLst>
            <pc:docMk/>
            <pc:sldMk cId="2016804552" sldId="272"/>
            <ac:spMk id="25" creationId="{0A50552F-353D-F69E-FD2D-7EC32DC25D85}"/>
          </ac:spMkLst>
        </pc:spChg>
        <pc:graphicFrameChg chg="mod">
          <ac:chgData name="Dominique Bontemps" userId="b39270e9-63b3-454e-8b19-c953696b0d5a" providerId="ADAL" clId="{1375DA0B-0F61-4FD3-93AC-D6C6E5756C63}" dt="2025-04-30T09:15:13.575" v="1300" actId="1076"/>
          <ac:graphicFrameMkLst>
            <pc:docMk/>
            <pc:sldMk cId="2016804552" sldId="272"/>
            <ac:graphicFrameMk id="24" creationId="{57D296A4-B6BF-E06F-71F5-E895AD2C5FB7}"/>
          </ac:graphicFrameMkLst>
        </pc:graphicFrameChg>
        <pc:cxnChg chg="mod">
          <ac:chgData name="Dominique Bontemps" userId="b39270e9-63b3-454e-8b19-c953696b0d5a" providerId="ADAL" clId="{1375DA0B-0F61-4FD3-93AC-D6C6E5756C63}" dt="2025-04-30T08:28:50.804" v="1166" actId="1076"/>
          <ac:cxnSpMkLst>
            <pc:docMk/>
            <pc:sldMk cId="2016804552" sldId="272"/>
            <ac:cxnSpMk id="27" creationId="{82CFD632-D7DE-2426-A9E0-0FC87719E0D0}"/>
          </ac:cxnSpMkLst>
        </pc:cxnChg>
      </pc:sldChg>
      <pc:sldChg chg="addSp delSp modSp add mod">
        <pc:chgData name="Dominique Bontemps" userId="b39270e9-63b3-454e-8b19-c953696b0d5a" providerId="ADAL" clId="{1375DA0B-0F61-4FD3-93AC-D6C6E5756C63}" dt="2025-05-02T07:21:14.072" v="1599" actId="20577"/>
        <pc:sldMkLst>
          <pc:docMk/>
          <pc:sldMk cId="1165853588" sldId="273"/>
        </pc:sldMkLst>
        <pc:spChg chg="mod">
          <ac:chgData name="Dominique Bontemps" userId="b39270e9-63b3-454e-8b19-c953696b0d5a" providerId="ADAL" clId="{1375DA0B-0F61-4FD3-93AC-D6C6E5756C63}" dt="2025-05-02T07:21:14.072" v="1599" actId="20577"/>
          <ac:spMkLst>
            <pc:docMk/>
            <pc:sldMk cId="1165853588" sldId="273"/>
            <ac:spMk id="2" creationId="{35F3E650-6A82-FC00-1BBA-8487F624A954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5" creationId="{36B8675B-5F12-C620-C0B5-15CDB33273AA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7" creationId="{DC701110-E10E-9962-C9FC-AB04A153CC3B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8" creationId="{5EF0D6A7-C437-CE30-9E75-DEDD7DE2E7FD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9" creationId="{3F5A1CDC-1D9D-1F47-C008-2BC0148F0FAE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10" creationId="{811EF2BC-4684-BA00-1E16-C036D5B6E633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11" creationId="{022BE53E-9014-9E80-09F6-86C1042E656D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14" creationId="{EC07A714-07A7-98D4-2D33-5E6D26576FAD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15" creationId="{28523B3E-CBA5-B58D-06BF-E7FA1B5534AB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17" creationId="{FED02F52-F6B7-3A61-ADC7-4EA2A2182A8C}"/>
          </ac:spMkLst>
        </pc:spChg>
        <pc:spChg chg="del">
          <ac:chgData name="Dominique Bontemps" userId="b39270e9-63b3-454e-8b19-c953696b0d5a" providerId="ADAL" clId="{1375DA0B-0F61-4FD3-93AC-D6C6E5756C63}" dt="2025-05-02T07:16:49.389" v="1315" actId="478"/>
          <ac:spMkLst>
            <pc:docMk/>
            <pc:sldMk cId="1165853588" sldId="273"/>
            <ac:spMk id="21" creationId="{731EAAB4-65FB-DAD3-04BE-A2C6D1649C98}"/>
          </ac:spMkLst>
        </pc:spChg>
        <pc:spChg chg="add mod">
          <ac:chgData name="Dominique Bontemps" userId="b39270e9-63b3-454e-8b19-c953696b0d5a" providerId="ADAL" clId="{1375DA0B-0F61-4FD3-93AC-D6C6E5756C63}" dt="2025-05-02T07:20:08.077" v="1443" actId="6549"/>
          <ac:spMkLst>
            <pc:docMk/>
            <pc:sldMk cId="1165853588" sldId="273"/>
            <ac:spMk id="23" creationId="{0816987A-AC86-1053-003B-A881781771DF}"/>
          </ac:spMkLst>
        </pc:spChg>
        <pc:spChg chg="add mod">
          <ac:chgData name="Dominique Bontemps" userId="b39270e9-63b3-454e-8b19-c953696b0d5a" providerId="ADAL" clId="{1375DA0B-0F61-4FD3-93AC-D6C6E5756C63}" dt="2025-05-02T07:18:57.441" v="1406" actId="1076"/>
          <ac:spMkLst>
            <pc:docMk/>
            <pc:sldMk cId="1165853588" sldId="273"/>
            <ac:spMk id="24" creationId="{C8A7C96C-E064-311F-6810-BA3E33C1CD7E}"/>
          </ac:spMkLst>
        </pc:spChg>
        <pc:spChg chg="add mod">
          <ac:chgData name="Dominique Bontemps" userId="b39270e9-63b3-454e-8b19-c953696b0d5a" providerId="ADAL" clId="{1375DA0B-0F61-4FD3-93AC-D6C6E5756C63}" dt="2025-05-02T07:18:57.441" v="1406" actId="1076"/>
          <ac:spMkLst>
            <pc:docMk/>
            <pc:sldMk cId="1165853588" sldId="273"/>
            <ac:spMk id="25" creationId="{852A0FD5-CCD7-9F7E-A9BC-0663419E7364}"/>
          </ac:spMkLst>
        </pc:spChg>
        <pc:spChg chg="add mod">
          <ac:chgData name="Dominique Bontemps" userId="b39270e9-63b3-454e-8b19-c953696b0d5a" providerId="ADAL" clId="{1375DA0B-0F61-4FD3-93AC-D6C6E5756C63}" dt="2025-05-02T07:19:47.044" v="1442" actId="14100"/>
          <ac:spMkLst>
            <pc:docMk/>
            <pc:sldMk cId="1165853588" sldId="273"/>
            <ac:spMk id="26" creationId="{2F2DA160-EB90-49FC-ECBA-F36D71A57D15}"/>
          </ac:spMkLst>
        </pc:spChg>
        <pc:spChg chg="add mod">
          <ac:chgData name="Dominique Bontemps" userId="b39270e9-63b3-454e-8b19-c953696b0d5a" providerId="ADAL" clId="{1375DA0B-0F61-4FD3-93AC-D6C6E5756C63}" dt="2025-05-02T07:20:57.418" v="1587" actId="20577"/>
          <ac:spMkLst>
            <pc:docMk/>
            <pc:sldMk cId="1165853588" sldId="273"/>
            <ac:spMk id="27" creationId="{0DCD37EA-FC92-54AD-88FC-B290BC6D9174}"/>
          </ac:spMkLst>
        </pc:spChg>
        <pc:picChg chg="add mod">
          <ac:chgData name="Dominique Bontemps" userId="b39270e9-63b3-454e-8b19-c953696b0d5a" providerId="ADAL" clId="{1375DA0B-0F61-4FD3-93AC-D6C6E5756C63}" dt="2025-05-02T07:19:28.391" v="1410" actId="1076"/>
          <ac:picMkLst>
            <pc:docMk/>
            <pc:sldMk cId="1165853588" sldId="273"/>
            <ac:picMk id="22" creationId="{564F6464-BDFD-CFF9-5A77-FC63CC3A87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D683-C9B9-9E8F-A79A-52C7A1FD0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07D6B-23B9-19CE-ED20-E8AF48555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74806-E945-E2BB-9C6C-7CE1F904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027-69FD-7C04-A459-54BBA2CC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EF6F-4AC4-C7A8-D1C7-BA22F42D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3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67F1-3FC9-F175-6E07-516FCEE0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90D91-71B3-BA23-B2AE-1D03C9935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C5F3-D55E-C326-DC48-4E1BDB44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B3ACC-803B-4E0C-E4BA-4A69CB04F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B92A5-B89F-7067-0B1B-C10C84B6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BB0C-9971-3FBA-2F67-353AB1C2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FA5A4-1517-F85C-1F29-C2B601D15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4BE8B-FCC0-8E0E-7601-BA82FFA1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62D9B-40DC-E62D-636E-043810BE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2F7A9-ADE4-FE1E-446E-60F33BC0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6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06BF-3509-617D-BFB3-21CB9A7E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F3A70-9B67-E32A-A1B3-1A73349BE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4E403-ABF5-E217-E008-1F690A7D6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56849-73A0-460B-DD67-1B8318AF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DCA2D-F007-C881-C028-A1911EFC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E8E43-938C-73A0-0DA9-AEFA7333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2B948-F4D5-77F5-D46D-B2A07F83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577FB-258A-C660-4CB7-AA910BB8D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EBBB2-609E-EE2F-6590-F3AE80C4E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4FBDC-340C-8B71-B6CB-D36C72EAB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2FDA0-9FCE-4EC2-08C1-8BFAE915C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298944-6536-2CE2-2E41-A16A592B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CC2BB6-18A4-B522-291C-4680C917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B42D0-67A0-FF0E-2B3B-8E6D42D8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6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4CCFF-717D-F560-0F84-D528F03F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FA7F0-2B41-B812-92A2-6C0D043C5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05E0B-63DF-66CF-B74D-E08C9927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7DA79-BA45-DDCF-06A3-9809FB2D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8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CCF5A-4EC7-76F2-E349-6109C56B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BC49D-A056-6CC7-C190-0DCCBC51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D599D-C8D4-9F15-F731-CB31D40D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3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A34D-A26F-0BA4-C490-7927C607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8089-C1BB-CE11-5734-D18E98FA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33130-9472-3BFE-873A-D2B0978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7D77B-2C24-37EF-0935-F3F4A1F0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4E74-C44B-1104-EC09-D25ABF3E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19B72-5CCD-B531-CC33-573894FE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5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7E2F-B4C5-CA98-738D-6EE4FDFB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005CF-C11F-4812-8CA6-356B5977B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81D04-1D58-9788-FD13-3D76179AB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6EA6E-72BE-860B-E8DD-0F66B766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63CB7-3015-110B-C89E-86666C14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05851-801A-30B2-8B17-1FD12F7AE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2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DAB5-89BB-4FE8-5F8C-7939E88E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08381-E9BE-250C-96A9-24EC7D792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D388-5FB3-9F59-0CFD-69C2673F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B25AE-45BD-12B7-2813-29141FB2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2DFCE-0D0E-3E8F-2A49-75567F38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1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B5294-B618-AB85-F446-63FDED984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A4B09-A22E-45C2-A28A-C45E217B7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40EF-7F5B-0EE0-3D9D-76E13053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4EF9E-EA79-B2A7-733C-24CEBB75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6A3F5-0CDA-52F9-874A-C76EEE0B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2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14B11-D436-E5E5-66DE-AE28D97B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DEBB-36E6-5C44-CD20-BB76E4126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74639-296A-6F61-D75F-88E7EE3A0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AFC93-32DA-4276-9083-FEE9A3B9DD1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F68B-6253-87B7-DBB4-64CA0A161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0C3C2-CAE2-8E1F-5772-8772B3280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E704E-1645-4BFD-8AE1-FFCA6C9DAF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esktop.github.com/download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ce-framework/JUCE/releas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53C7E-8B4B-4546-A54A-1E9F18DF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Ctrlr 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5852-488E-DC7E-B409-A76F187C8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document is to describe the different source files of Ctrlr and their dependencies in order to understand the structure</a:t>
            </a:r>
          </a:p>
          <a:p>
            <a:r>
              <a:rPr lang="en-US" dirty="0"/>
              <a:t>Each page is focusing on a particular topic</a:t>
            </a:r>
          </a:p>
          <a:p>
            <a:r>
              <a:rPr lang="en-US" dirty="0"/>
              <a:t>Row numbers are provided as an indication only. They may change due to code change but gives an idea on where a certain section is located in long source code files</a:t>
            </a:r>
          </a:p>
        </p:txBody>
      </p:sp>
    </p:spTree>
    <p:extLst>
      <p:ext uri="{BB962C8B-B14F-4D97-AF65-F5344CB8AC3E}">
        <p14:creationId xmlns:p14="http://schemas.microsoft.com/office/powerpoint/2010/main" val="30165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CBA16-62F4-09F7-01DC-CF73E21DC78C}"/>
              </a:ext>
            </a:extLst>
          </p:cNvPr>
          <p:cNvSpPr txBox="1"/>
          <p:nvPr/>
        </p:nvSpPr>
        <p:spPr>
          <a:xfrm>
            <a:off x="550506" y="335902"/>
            <a:ext cx="19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 process (1/2)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AE7AC-F2A5-ED40-EA4C-87259BD82E0E}"/>
              </a:ext>
            </a:extLst>
          </p:cNvPr>
          <p:cNvSpPr txBox="1"/>
          <p:nvPr/>
        </p:nvSpPr>
        <p:spPr>
          <a:xfrm>
            <a:off x="550506" y="828675"/>
            <a:ext cx="49712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/>
              <a:t>If not yet done, 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100" dirty="0"/>
              <a:t>download </a:t>
            </a:r>
            <a:r>
              <a:rPr lang="en-US" sz="1100" dirty="0" err="1"/>
              <a:t>Github</a:t>
            </a:r>
            <a:r>
              <a:rPr lang="en-US" sz="1100" dirty="0"/>
              <a:t> Desktop from </a:t>
            </a:r>
            <a:r>
              <a:rPr lang="en-US" sz="1100" dirty="0">
                <a:hlinkClick r:id="rId2"/>
              </a:rPr>
              <a:t>https://desktop.github.com/download/</a:t>
            </a:r>
            <a:endParaRPr lang="en-US" sz="1100" dirty="0"/>
          </a:p>
          <a:p>
            <a:pPr marL="685800" lvl="1" indent="-228600">
              <a:buFont typeface="+mj-lt"/>
              <a:buAutoNum type="alphaLcParenR"/>
            </a:pPr>
            <a:r>
              <a:rPr lang="en-US" sz="1100" dirty="0"/>
              <a:t>Clone the </a:t>
            </a:r>
            <a:r>
              <a:rPr lang="en-US" sz="1100" dirty="0" err="1"/>
              <a:t>CtrlrX</a:t>
            </a:r>
            <a:r>
              <a:rPr lang="en-US" sz="1100" dirty="0"/>
              <a:t> repository to a local </a:t>
            </a:r>
            <a:r>
              <a:rPr lang="en-US" sz="1100" i="1" dirty="0" err="1"/>
              <a:t>My_CtrlrX_Folder</a:t>
            </a:r>
            <a:endParaRPr lang="en-US" sz="1100" i="1" dirty="0"/>
          </a:p>
          <a:p>
            <a:pPr marL="228600" indent="-228600">
              <a:buAutoNum type="arabicPeriod"/>
            </a:pPr>
            <a:r>
              <a:rPr lang="en-US" sz="1100" dirty="0"/>
              <a:t>Fetch and Pull the latest changes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4D905-2B2A-D8FE-7506-76121A22C4EA}"/>
              </a:ext>
            </a:extLst>
          </p:cNvPr>
          <p:cNvSpPr txBox="1"/>
          <p:nvPr/>
        </p:nvSpPr>
        <p:spPr>
          <a:xfrm>
            <a:off x="5708859" y="987328"/>
            <a:ext cx="5045738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When a Github repository is cloned to a local repository on your computer, it is possible to </a:t>
            </a:r>
            <a:r>
              <a:rPr lang="en-US" sz="1100" b="1" noProof="1"/>
              <a:t>Fetch</a:t>
            </a:r>
            <a:r>
              <a:rPr lang="en-US" sz="1100" noProof="1"/>
              <a:t> and </a:t>
            </a:r>
            <a:r>
              <a:rPr lang="en-US" sz="1100" b="1" noProof="1"/>
              <a:t>Pull</a:t>
            </a:r>
            <a:r>
              <a:rPr lang="en-US" sz="1100" noProof="1"/>
              <a:t> changes done by others and to </a:t>
            </a:r>
            <a:r>
              <a:rPr lang="en-US" sz="1100" b="1" noProof="1"/>
              <a:t>Push</a:t>
            </a:r>
            <a:r>
              <a:rPr lang="en-US" sz="1100" noProof="1"/>
              <a:t> changes made by you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5B1087F-81C9-BD1C-77BA-378141F76502}"/>
              </a:ext>
            </a:extLst>
          </p:cNvPr>
          <p:cNvSpPr/>
          <p:nvPr/>
        </p:nvSpPr>
        <p:spPr>
          <a:xfrm>
            <a:off x="1481232" y="5498125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F78761-8CB2-D6DA-8545-995D453FFF97}"/>
              </a:ext>
            </a:extLst>
          </p:cNvPr>
          <p:cNvSpPr txBox="1"/>
          <p:nvPr/>
        </p:nvSpPr>
        <p:spPr>
          <a:xfrm>
            <a:off x="550506" y="5856479"/>
            <a:ext cx="5767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lt"/>
              <a:buAutoNum type="arabicPeriod" startAt="3"/>
            </a:pPr>
            <a:r>
              <a:rPr lang="en-US" sz="1100" dirty="0"/>
              <a:t>In </a:t>
            </a:r>
            <a:r>
              <a:rPr lang="en-US" sz="1100" i="1" dirty="0" err="1"/>
              <a:t>My_CtrlrX_Folder</a:t>
            </a:r>
            <a:r>
              <a:rPr lang="en-US" sz="1100" dirty="0"/>
              <a:t>/Source/Misc/boost, expand Boost.zip to have its content in /boost/boost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292B9-6ADD-18F6-65D2-A48CDAAFF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06" y="2079911"/>
            <a:ext cx="4522419" cy="3169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ABD958-6B0A-FC2E-DA91-31A4FA1BB385}"/>
              </a:ext>
            </a:extLst>
          </p:cNvPr>
          <p:cNvSpPr txBox="1"/>
          <p:nvPr/>
        </p:nvSpPr>
        <p:spPr>
          <a:xfrm>
            <a:off x="550506" y="1721557"/>
            <a:ext cx="1885919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After Fetch and before Pull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F13E6-CE1F-9777-9C88-BACFAB64B4A1}"/>
              </a:ext>
            </a:extLst>
          </p:cNvPr>
          <p:cNvSpPr txBox="1"/>
          <p:nvPr/>
        </p:nvSpPr>
        <p:spPr>
          <a:xfrm>
            <a:off x="5414391" y="1721557"/>
            <a:ext cx="3163921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After Pull, the 3 last changes are visible...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6316BC-9F36-5D14-FA42-9099478B4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91" y="2079912"/>
            <a:ext cx="6199640" cy="3169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301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26A2-5EF8-50FA-8279-4AC88F9A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244FDC-9EF2-844E-8D48-D90C523EEAE2}"/>
              </a:ext>
            </a:extLst>
          </p:cNvPr>
          <p:cNvSpPr txBox="1"/>
          <p:nvPr/>
        </p:nvSpPr>
        <p:spPr>
          <a:xfrm>
            <a:off x="550506" y="335902"/>
            <a:ext cx="19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 process (2/2)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6CD40-4A0A-607F-273B-2BBEE19413B9}"/>
              </a:ext>
            </a:extLst>
          </p:cNvPr>
          <p:cNvSpPr txBox="1"/>
          <p:nvPr/>
        </p:nvSpPr>
        <p:spPr>
          <a:xfrm>
            <a:off x="550506" y="887589"/>
            <a:ext cx="8162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lt"/>
              <a:buAutoNum type="arabicPeriod" startAt="4"/>
            </a:pPr>
            <a:r>
              <a:rPr lang="en-US" sz="1100" dirty="0"/>
              <a:t>If not yet done, 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100" dirty="0"/>
              <a:t>Download the JUCE version that is used in the </a:t>
            </a:r>
            <a:r>
              <a:rPr lang="en-US" sz="1100" dirty="0" err="1"/>
              <a:t>CtrlrX</a:t>
            </a:r>
            <a:r>
              <a:rPr lang="en-US" sz="1100" dirty="0"/>
              <a:t> downloaded code from </a:t>
            </a:r>
            <a:r>
              <a:rPr lang="en-US" sz="1100" dirty="0">
                <a:hlinkClick r:id="rId2"/>
              </a:rPr>
              <a:t>https://github.com/juce-framework/JUCE/releases</a:t>
            </a:r>
            <a:endParaRPr lang="en-US" sz="1100" dirty="0"/>
          </a:p>
          <a:p>
            <a:pPr marL="685800" lvl="1" indent="-228600">
              <a:buFont typeface="+mj-lt"/>
              <a:buAutoNum type="alphaLcParenR"/>
            </a:pPr>
            <a:r>
              <a:rPr lang="en-US" sz="1100" dirty="0"/>
              <a:t>Use </a:t>
            </a:r>
            <a:r>
              <a:rPr lang="en-US" sz="1100" dirty="0" err="1"/>
              <a:t>Projucer</a:t>
            </a:r>
            <a:r>
              <a:rPr lang="en-US" sz="1100" dirty="0"/>
              <a:t> from that JUCE version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n-US" sz="1100" dirty="0"/>
              <a:t>Set some parameters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63E5D7BA-2297-0468-54E7-7639844D006B}"/>
              </a:ext>
            </a:extLst>
          </p:cNvPr>
          <p:cNvSpPr/>
          <p:nvPr/>
        </p:nvSpPr>
        <p:spPr>
          <a:xfrm>
            <a:off x="1481232" y="1739480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BD6259-9BF3-83FA-E60B-3EC59BA1D4CB}"/>
              </a:ext>
            </a:extLst>
          </p:cNvPr>
          <p:cNvSpPr txBox="1"/>
          <p:nvPr/>
        </p:nvSpPr>
        <p:spPr>
          <a:xfrm>
            <a:off x="550506" y="2097834"/>
            <a:ext cx="42755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lt"/>
              <a:buAutoNum type="arabicPeriod" startAt="7"/>
            </a:pPr>
            <a:r>
              <a:rPr lang="en-US" sz="1100" dirty="0"/>
              <a:t>Delete the temporary build files for your IDE (Xcode / Visual Studio)</a:t>
            </a:r>
          </a:p>
          <a:p>
            <a:pPr marL="228600" indent="-228600">
              <a:buFont typeface="+mj-lt"/>
              <a:buAutoNum type="arabicPeriod" startAt="7"/>
            </a:pPr>
            <a:r>
              <a:rPr lang="en-US" sz="1100" dirty="0"/>
              <a:t>Launch your IDE from </a:t>
            </a:r>
            <a:r>
              <a:rPr lang="en-US" sz="1100" dirty="0" err="1"/>
              <a:t>Projucer</a:t>
            </a:r>
            <a:endParaRPr lang="en-US" sz="11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3E05BC4B-1463-7D59-985D-8FC21F97A844}"/>
              </a:ext>
            </a:extLst>
          </p:cNvPr>
          <p:cNvSpPr/>
          <p:nvPr/>
        </p:nvSpPr>
        <p:spPr>
          <a:xfrm>
            <a:off x="1468484" y="2625465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69929C-B8A8-4DB8-6B3B-26B6C38C50EE}"/>
              </a:ext>
            </a:extLst>
          </p:cNvPr>
          <p:cNvSpPr txBox="1"/>
          <p:nvPr/>
        </p:nvSpPr>
        <p:spPr>
          <a:xfrm>
            <a:off x="550505" y="2983819"/>
            <a:ext cx="217078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lt"/>
              <a:buAutoNum type="arabicPeriod" startAt="9"/>
            </a:pPr>
            <a:r>
              <a:rPr lang="en-US" sz="1100" dirty="0"/>
              <a:t>Adapt some Build parameters</a:t>
            </a:r>
          </a:p>
          <a:p>
            <a:pPr marL="228600" indent="-228600">
              <a:buFont typeface="+mj-lt"/>
              <a:buAutoNum type="arabicPeriod" startAt="9"/>
            </a:pPr>
            <a:r>
              <a:rPr lang="en-US" sz="1100" dirty="0"/>
              <a:t>Compile and Build</a:t>
            </a:r>
          </a:p>
          <a:p>
            <a:pPr marL="228600" indent="-228600">
              <a:buFont typeface="+mj-lt"/>
              <a:buAutoNum type="arabicPeriod" startAt="9"/>
            </a:pPr>
            <a:r>
              <a:rPr lang="en-US" sz="1100" dirty="0"/>
              <a:t>Executable can be found in xxx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7D296A4-B6BF-E06F-71F5-E895AD2C5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729568"/>
              </p:ext>
            </p:extLst>
          </p:nvPr>
        </p:nvGraphicFramePr>
        <p:xfrm>
          <a:off x="8109311" y="1417092"/>
          <a:ext cx="1825626" cy="10972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12813">
                  <a:extLst>
                    <a:ext uri="{9D8B030D-6E8A-4147-A177-3AD203B41FA5}">
                      <a16:colId xmlns:a16="http://schemas.microsoft.com/office/drawing/2014/main" val="1950313516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4089444380"/>
                    </a:ext>
                  </a:extLst>
                </a:gridCol>
              </a:tblGrid>
              <a:tr h="1500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5406"/>
                  </a:ext>
                </a:extLst>
              </a:tr>
              <a:tr h="15004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574170"/>
                  </a:ext>
                </a:extLst>
              </a:tr>
              <a:tr h="15004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24193"/>
                  </a:ext>
                </a:extLst>
              </a:tr>
              <a:tr h="150041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03192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A50552F-353D-F69E-FD2D-7EC32DC25D85}"/>
              </a:ext>
            </a:extLst>
          </p:cNvPr>
          <p:cNvSpPr txBox="1"/>
          <p:nvPr/>
        </p:nvSpPr>
        <p:spPr>
          <a:xfrm>
            <a:off x="4888329" y="2015769"/>
            <a:ext cx="2884071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This is needed each time that for example the Ctrlr IDs are changed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CFD632-D7DE-2426-A9E0-0FC87719E0D0}"/>
              </a:ext>
            </a:extLst>
          </p:cNvPr>
          <p:cNvCxnSpPr/>
          <p:nvPr/>
        </p:nvCxnSpPr>
        <p:spPr>
          <a:xfrm>
            <a:off x="2257063" y="1527732"/>
            <a:ext cx="56391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80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F733-96B2-D025-B943-4503BCB1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17946-3560-4E64-30A7-636E11F700CC}"/>
              </a:ext>
            </a:extLst>
          </p:cNvPr>
          <p:cNvSpPr txBox="1"/>
          <p:nvPr/>
        </p:nvSpPr>
        <p:spPr>
          <a:xfrm>
            <a:off x="550506" y="335902"/>
            <a:ext cx="875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Startup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52EBC1B3-A6EE-3933-AF67-467ACF942355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858416" y="895562"/>
            <a:ext cx="16995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CtrlrManager.cpp </a:t>
            </a:r>
            <a:r>
              <a:rPr lang="en-US" sz="1100" dirty="0"/>
              <a:t>in Core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36A9EF15-47B6-B542-B231-318DC84C4EE4}"/>
              </a:ext>
            </a:extLst>
          </p:cNvPr>
          <p:cNvSpPr/>
          <p:nvPr/>
        </p:nvSpPr>
        <p:spPr>
          <a:xfrm>
            <a:off x="643812" y="2167812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B62D1-7DD4-4424-2EC9-699F6879FAF0}"/>
              </a:ext>
            </a:extLst>
          </p:cNvPr>
          <p:cNvSpPr txBox="1"/>
          <p:nvPr/>
        </p:nvSpPr>
        <p:spPr>
          <a:xfrm>
            <a:off x="858416" y="2176966"/>
            <a:ext cx="15776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ctrlrMidiDeviceManager</a:t>
            </a:r>
            <a:endParaRPr lang="en-US" sz="1100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63E590AC-5C77-636A-012C-D00892CB0E0D}"/>
              </a:ext>
            </a:extLst>
          </p:cNvPr>
          <p:cNvSpPr/>
          <p:nvPr/>
        </p:nvSpPr>
        <p:spPr>
          <a:xfrm>
            <a:off x="1785257" y="1761666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7C308-FDDC-7701-0D5C-4C817E8C60D7}"/>
              </a:ext>
            </a:extLst>
          </p:cNvPr>
          <p:cNvSpPr txBox="1"/>
          <p:nvPr/>
        </p:nvSpPr>
        <p:spPr>
          <a:xfrm>
            <a:off x="1999861" y="1770820"/>
            <a:ext cx="25651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CtrlrAbout.cpp </a:t>
            </a:r>
            <a:r>
              <a:rPr lang="en-US" sz="1100" dirty="0"/>
              <a:t>in Source – </a:t>
            </a:r>
            <a:r>
              <a:rPr lang="en-US" sz="1100" dirty="0" err="1"/>
              <a:t>UIComponents</a:t>
            </a:r>
            <a:endParaRPr lang="en-US" sz="110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2A3085DE-04EF-583D-D32A-ABD289582E68}"/>
              </a:ext>
            </a:extLst>
          </p:cNvPr>
          <p:cNvSpPr/>
          <p:nvPr/>
        </p:nvSpPr>
        <p:spPr>
          <a:xfrm>
            <a:off x="2557920" y="1207541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9A2CC4-B749-9F04-65EB-162B6943BDA4}"/>
              </a:ext>
            </a:extLst>
          </p:cNvPr>
          <p:cNvCxnSpPr/>
          <p:nvPr/>
        </p:nvCxnSpPr>
        <p:spPr>
          <a:xfrm>
            <a:off x="746449" y="1362269"/>
            <a:ext cx="0" cy="679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C04754-4783-995F-518C-0058DD519F49}"/>
              </a:ext>
            </a:extLst>
          </p:cNvPr>
          <p:cNvCxnSpPr>
            <a:cxnSpLocks/>
          </p:cNvCxnSpPr>
          <p:nvPr/>
        </p:nvCxnSpPr>
        <p:spPr>
          <a:xfrm>
            <a:off x="858416" y="1296955"/>
            <a:ext cx="829535" cy="473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89ED94-AB7D-1B50-1BEE-82236925A3DE}"/>
              </a:ext>
            </a:extLst>
          </p:cNvPr>
          <p:cNvCxnSpPr>
            <a:cxnSpLocks/>
          </p:cNvCxnSpPr>
          <p:nvPr/>
        </p:nvCxnSpPr>
        <p:spPr>
          <a:xfrm>
            <a:off x="988478" y="1199590"/>
            <a:ext cx="1435198" cy="127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2772524" y="1212454"/>
            <a:ext cx="41056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CtrlrEditor.cpp </a:t>
            </a:r>
            <a:r>
              <a:rPr lang="en-US" sz="1100" dirty="0"/>
              <a:t>in Source – </a:t>
            </a:r>
            <a:r>
              <a:rPr lang="en-US" sz="1100" dirty="0" err="1"/>
              <a:t>UIComponents</a:t>
            </a:r>
            <a:r>
              <a:rPr lang="en-US" sz="1100" dirty="0"/>
              <a:t> – </a:t>
            </a:r>
            <a:r>
              <a:rPr lang="en-US" sz="1100" dirty="0" err="1"/>
              <a:t>CtrlrApplicationWindow</a:t>
            </a:r>
            <a:endParaRPr lang="en-US" sz="1100" dirty="0"/>
          </a:p>
        </p:txBody>
      </p:sp>
      <p:sp>
        <p:nvSpPr>
          <p:cNvPr id="17" name="Arrow: Down 11">
            <a:extLst>
              <a:ext uri="{FF2B5EF4-FFF2-40B4-BE49-F238E27FC236}">
                <a16:creationId xmlns:a16="http://schemas.microsoft.com/office/drawing/2014/main" id="{1193628C-2325-9596-DC74-198D9364B4DF}"/>
              </a:ext>
            </a:extLst>
          </p:cNvPr>
          <p:cNvSpPr/>
          <p:nvPr/>
        </p:nvSpPr>
        <p:spPr>
          <a:xfrm>
            <a:off x="5741995" y="1571122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Rectangle 10"/>
          <p:cNvSpPr/>
          <p:nvPr/>
        </p:nvSpPr>
        <p:spPr>
          <a:xfrm>
            <a:off x="5509149" y="1854482"/>
            <a:ext cx="471462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Creates a </a:t>
            </a:r>
            <a:r>
              <a:rPr lang="en-US" dirty="0" err="1"/>
              <a:t>CtrlrEditor</a:t>
            </a:r>
            <a:r>
              <a:rPr lang="en-US" dirty="0"/>
              <a:t> object with </a:t>
            </a:r>
          </a:p>
          <a:p>
            <a:r>
              <a:rPr lang="en-US" dirty="0" err="1"/>
              <a:t>MenuBarComponent</a:t>
            </a:r>
            <a:endParaRPr lang="en-US" dirty="0"/>
          </a:p>
          <a:p>
            <a:r>
              <a:rPr lang="en-US" dirty="0" err="1"/>
              <a:t>CommandManager</a:t>
            </a:r>
            <a:endParaRPr lang="en-US" dirty="0"/>
          </a:p>
          <a:p>
            <a:r>
              <a:rPr lang="en-US" dirty="0" err="1"/>
              <a:t>CtrlrDocumentpanel</a:t>
            </a:r>
            <a:endParaRPr lang="en-US" dirty="0"/>
          </a:p>
          <a:p>
            <a:r>
              <a:rPr lang="en-US" dirty="0"/>
              <a:t>Resizer (only for plugin non restricted instances)</a:t>
            </a:r>
          </a:p>
          <a:p>
            <a:r>
              <a:rPr lang="en-US" dirty="0" err="1"/>
              <a:t>getActivePanel</a:t>
            </a:r>
            <a:r>
              <a:rPr lang="en-US" dirty="0"/>
              <a:t>() returns true if any</a:t>
            </a:r>
          </a:p>
          <a:p>
            <a:r>
              <a:rPr lang="en-US" dirty="0"/>
              <a:t>Set </a:t>
            </a:r>
            <a:r>
              <a:rPr lang="en-US" dirty="0" err="1"/>
              <a:t>LnF</a:t>
            </a:r>
            <a:r>
              <a:rPr lang="en-US" dirty="0"/>
              <a:t> to v3 if Legacy mode is ON otherwise, v4</a:t>
            </a: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79463" y="3895946"/>
            <a:ext cx="7600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active panel has its window manager.</a:t>
            </a:r>
          </a:p>
          <a:p>
            <a:r>
              <a:rPr lang="en-US" dirty="0" err="1"/>
              <a:t>CtrlrEditorApplicationCommandsHandler</a:t>
            </a:r>
            <a:r>
              <a:rPr lang="en-US" dirty="0"/>
              <a:t> contains the actions to perform for each command associated to a Ctrlr menu item (defined in CtrlrEditorApplicationCommandMenus.cpp)</a:t>
            </a:r>
          </a:p>
          <a:p>
            <a:endParaRPr lang="en-US" dirty="0"/>
          </a:p>
          <a:p>
            <a:r>
              <a:rPr lang="en-US" dirty="0"/>
              <a:t>Check what </a:t>
            </a:r>
            <a:r>
              <a:rPr lang="en-US" dirty="0" err="1"/>
              <a:t>getCommandInfo</a:t>
            </a:r>
            <a:r>
              <a:rPr lang="en-US" dirty="0"/>
              <a:t> is doing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8478" y="6116988"/>
            <a:ext cx="4512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CtrlrPanelWindowManager</a:t>
            </a:r>
            <a:r>
              <a:rPr lang="en-US" dirty="0"/>
              <a:t>::</a:t>
            </a:r>
            <a:r>
              <a:rPr lang="en-US" dirty="0" err="1"/>
              <a:t>LuaMethodEditor</a:t>
            </a:r>
            <a:endParaRPr lang="en-US" dirty="0"/>
          </a:p>
        </p:txBody>
      </p:sp>
      <p:sp>
        <p:nvSpPr>
          <p:cNvPr id="20" name="Rectangle: Folded Corner 4">
            <a:extLst>
              <a:ext uri="{FF2B5EF4-FFF2-40B4-BE49-F238E27FC236}">
                <a16:creationId xmlns:a16="http://schemas.microsoft.com/office/drawing/2014/main" id="{36A9EF15-47B6-B542-B231-318DC84C4EE4}"/>
              </a:ext>
            </a:extLst>
          </p:cNvPr>
          <p:cNvSpPr/>
          <p:nvPr/>
        </p:nvSpPr>
        <p:spPr>
          <a:xfrm>
            <a:off x="643812" y="2595855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B62D1-7DD4-4424-2EC9-699F6879FAF0}"/>
              </a:ext>
            </a:extLst>
          </p:cNvPr>
          <p:cNvSpPr txBox="1"/>
          <p:nvPr/>
        </p:nvSpPr>
        <p:spPr>
          <a:xfrm>
            <a:off x="858416" y="2605009"/>
            <a:ext cx="14157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ctrlrWindowManager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0B62D1-7DD4-4424-2EC9-699F6879FAF0}"/>
              </a:ext>
            </a:extLst>
          </p:cNvPr>
          <p:cNvSpPr txBox="1"/>
          <p:nvPr/>
        </p:nvSpPr>
        <p:spPr>
          <a:xfrm>
            <a:off x="3051887" y="574429"/>
            <a:ext cx="2297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5,3,201: </a:t>
            </a:r>
            <a:r>
              <a:rPr lang="en-US" sz="1100" dirty="0" err="1"/>
              <a:t>setDefaults</a:t>
            </a:r>
            <a:r>
              <a:rPr lang="en-US" sz="1100" dirty="0"/>
              <a:t> (</a:t>
            </a:r>
            <a:r>
              <a:rPr lang="en-US" sz="1100" dirty="0" err="1"/>
              <a:t>CtrlrProperties</a:t>
            </a:r>
            <a:r>
              <a:rPr lang="en-US" sz="1100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A455F8-7F94-5011-264C-D2123CEA2B7D}"/>
              </a:ext>
            </a:extLst>
          </p:cNvPr>
          <p:cNvSpPr txBox="1"/>
          <p:nvPr/>
        </p:nvSpPr>
        <p:spPr>
          <a:xfrm>
            <a:off x="5191467" y="3811522"/>
            <a:ext cx="5777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case </a:t>
            </a:r>
            <a:r>
              <a:rPr lang="en-US" sz="800" dirty="0" err="1"/>
              <a:t>showAboutDialog</a:t>
            </a:r>
            <a:r>
              <a:rPr lang="en-US" sz="800" dirty="0"/>
              <a:t>:</a:t>
            </a:r>
          </a:p>
          <a:p>
            <a:r>
              <a:rPr lang="en-US" sz="800" dirty="0" err="1"/>
              <a:t>owner.getWindowManager</a:t>
            </a:r>
            <a:r>
              <a:rPr lang="en-US" sz="800" dirty="0"/>
              <a:t>().</a:t>
            </a:r>
            <a:r>
              <a:rPr lang="en-US" sz="800" dirty="0" err="1"/>
              <a:t>showModalDialog</a:t>
            </a:r>
            <a:r>
              <a:rPr lang="en-US" sz="800" dirty="0"/>
              <a:t> ("Ctrlr/About", </a:t>
            </a:r>
            <a:r>
              <a:rPr lang="en-US" sz="800" dirty="0" err="1"/>
              <a:t>ScopedPointer</a:t>
            </a:r>
            <a:r>
              <a:rPr lang="en-US" sz="800" dirty="0"/>
              <a:t> &lt;</a:t>
            </a:r>
            <a:r>
              <a:rPr lang="en-US" sz="800" dirty="0" err="1"/>
              <a:t>CtrlrAbout</a:t>
            </a:r>
            <a:r>
              <a:rPr lang="en-US" sz="800" dirty="0"/>
              <a:t>&gt; (new </a:t>
            </a:r>
            <a:r>
              <a:rPr lang="en-US" sz="800" dirty="0" err="1"/>
              <a:t>CtrlrAbout</a:t>
            </a:r>
            <a:r>
              <a:rPr lang="en-US" sz="800" dirty="0"/>
              <a:t>(owner)), false, this);</a:t>
            </a:r>
          </a:p>
          <a:p>
            <a:r>
              <a:rPr lang="en-US" sz="800" dirty="0"/>
              <a:t>break;</a:t>
            </a:r>
          </a:p>
        </p:txBody>
      </p:sp>
      <p:sp>
        <p:nvSpPr>
          <p:cNvPr id="25" name="Arrow: Down 11">
            <a:extLst>
              <a:ext uri="{FF2B5EF4-FFF2-40B4-BE49-F238E27FC236}">
                <a16:creationId xmlns:a16="http://schemas.microsoft.com/office/drawing/2014/main" id="{1193628C-2325-9596-DC74-198D9364B4DF}"/>
              </a:ext>
            </a:extLst>
          </p:cNvPr>
          <p:cNvSpPr/>
          <p:nvPr/>
        </p:nvSpPr>
        <p:spPr>
          <a:xfrm>
            <a:off x="8682842" y="4206387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0B62D1-7DD4-4424-2EC9-699F6879FAF0}"/>
              </a:ext>
            </a:extLst>
          </p:cNvPr>
          <p:cNvSpPr txBox="1"/>
          <p:nvPr/>
        </p:nvSpPr>
        <p:spPr>
          <a:xfrm>
            <a:off x="8080413" y="4494124"/>
            <a:ext cx="3782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new </a:t>
            </a:r>
            <a:r>
              <a:rPr lang="en-US" sz="1100" dirty="0" err="1"/>
              <a:t>CtrlrAbout</a:t>
            </a:r>
            <a:r>
              <a:rPr lang="en-US" sz="1100" dirty="0"/>
              <a:t> component (defined in </a:t>
            </a:r>
            <a:r>
              <a:rPr lang="en-US" sz="1100" dirty="0" err="1"/>
              <a:t>CtrlrAbout.h</a:t>
            </a:r>
            <a:r>
              <a:rPr lang="en-US" sz="1100" dirty="0"/>
              <a:t> which is included in CtrlrEditorApplicationCommandsHandler.cpp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C04754-4783-995F-518C-0058DD519F49}"/>
              </a:ext>
            </a:extLst>
          </p:cNvPr>
          <p:cNvCxnSpPr>
            <a:cxnSpLocks/>
          </p:cNvCxnSpPr>
          <p:nvPr/>
        </p:nvCxnSpPr>
        <p:spPr>
          <a:xfrm>
            <a:off x="6219630" y="4837534"/>
            <a:ext cx="829535" cy="473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0370" y="5213921"/>
            <a:ext cx="435972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#include "</a:t>
            </a:r>
            <a:r>
              <a:rPr lang="en-US" sz="1100" dirty="0" err="1"/>
              <a:t>CtrlrEditor.h</a:t>
            </a:r>
            <a:r>
              <a:rPr lang="en-US" sz="1100" dirty="0"/>
              <a:t>"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CtrlrAbout.h</a:t>
            </a:r>
            <a:r>
              <a:rPr lang="en-US" sz="1100" dirty="0"/>
              <a:t>"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CtrlrPanel</a:t>
            </a:r>
            <a:r>
              <a:rPr lang="en-US" sz="1100" dirty="0"/>
              <a:t>/</a:t>
            </a:r>
            <a:r>
              <a:rPr lang="en-US" sz="1100" dirty="0" err="1"/>
              <a:t>CtrlrPanel.h</a:t>
            </a:r>
            <a:r>
              <a:rPr lang="en-US" sz="1100" dirty="0"/>
              <a:t>"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CtrlrPanel</a:t>
            </a:r>
            <a:r>
              <a:rPr lang="en-US" sz="1100" dirty="0"/>
              <a:t>/</a:t>
            </a:r>
            <a:r>
              <a:rPr lang="en-US" sz="1100" dirty="0" err="1"/>
              <a:t>CtrlrPanelEditor.h</a:t>
            </a:r>
            <a:r>
              <a:rPr lang="en-US" sz="1100" dirty="0"/>
              <a:t>"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CtrlrMIDILibrary</a:t>
            </a:r>
            <a:r>
              <a:rPr lang="en-US" sz="1100" dirty="0"/>
              <a:t>/</a:t>
            </a:r>
            <a:r>
              <a:rPr lang="en-US" sz="1100" dirty="0" err="1"/>
              <a:t>CtrlrMIDILibrary.h</a:t>
            </a:r>
            <a:r>
              <a:rPr lang="en-US" sz="1100" dirty="0"/>
              <a:t>"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CtrlrWindowManagers</a:t>
            </a:r>
            <a:r>
              <a:rPr lang="en-US" sz="1100" dirty="0"/>
              <a:t>/</a:t>
            </a:r>
            <a:r>
              <a:rPr lang="en-US" sz="1100" dirty="0" err="1"/>
              <a:t>CtrlrDialogWindow.h</a:t>
            </a:r>
            <a:r>
              <a:rPr lang="en-US" sz="1100" dirty="0"/>
              <a:t>"</a:t>
            </a:r>
          </a:p>
          <a:p>
            <a:r>
              <a:rPr lang="en-US" sz="1100" dirty="0"/>
              <a:t>#include "</a:t>
            </a:r>
            <a:r>
              <a:rPr lang="en-US" sz="1100" dirty="0" err="1"/>
              <a:t>CtrlrMIDI</a:t>
            </a:r>
            <a:r>
              <a:rPr lang="en-US" sz="1100" dirty="0"/>
              <a:t>/</a:t>
            </a:r>
            <a:r>
              <a:rPr lang="en-US" sz="1100" dirty="0" err="1"/>
              <a:t>CtrlrMIDISettingsDialog.h</a:t>
            </a:r>
            <a:r>
              <a:rPr lang="en-US" sz="1100" dirty="0"/>
              <a:t>"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289ED94-AB7D-1B50-1BEE-82236925A3DE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2274188" y="705234"/>
            <a:ext cx="777699" cy="190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Folded Corner 4">
            <a:extLst>
              <a:ext uri="{FF2B5EF4-FFF2-40B4-BE49-F238E27FC236}">
                <a16:creationId xmlns:a16="http://schemas.microsoft.com/office/drawing/2014/main" id="{36A9EF15-47B6-B542-B231-318DC84C4EE4}"/>
              </a:ext>
            </a:extLst>
          </p:cNvPr>
          <p:cNvSpPr/>
          <p:nvPr/>
        </p:nvSpPr>
        <p:spPr>
          <a:xfrm>
            <a:off x="2772707" y="2189407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0B62D1-7DD4-4424-2EC9-699F6879FAF0}"/>
              </a:ext>
            </a:extLst>
          </p:cNvPr>
          <p:cNvSpPr txBox="1"/>
          <p:nvPr/>
        </p:nvSpPr>
        <p:spPr>
          <a:xfrm>
            <a:off x="2987311" y="2198561"/>
            <a:ext cx="1334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ctrlrDocumentPanel</a:t>
            </a:r>
            <a:endParaRPr 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550506" y="3513398"/>
            <a:ext cx="2743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CtrlrPanelWindowManager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C9A2CC4-B749-9F04-65EB-162B6943BDA4}"/>
              </a:ext>
            </a:extLst>
          </p:cNvPr>
          <p:cNvCxnSpPr/>
          <p:nvPr/>
        </p:nvCxnSpPr>
        <p:spPr>
          <a:xfrm>
            <a:off x="1402736" y="2875774"/>
            <a:ext cx="0" cy="679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Folded Corner 13">
            <a:extLst>
              <a:ext uri="{FF2B5EF4-FFF2-40B4-BE49-F238E27FC236}">
                <a16:creationId xmlns:a16="http://schemas.microsoft.com/office/drawing/2014/main" id="{BE75F13C-EE95-C1B9-172D-77A52EB80836}"/>
              </a:ext>
            </a:extLst>
          </p:cNvPr>
          <p:cNvSpPr/>
          <p:nvPr/>
        </p:nvSpPr>
        <p:spPr>
          <a:xfrm>
            <a:off x="773874" y="5852553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D4BD2E-13F7-A68E-718A-D953DC7D4298}"/>
              </a:ext>
            </a:extLst>
          </p:cNvPr>
          <p:cNvSpPr txBox="1"/>
          <p:nvPr/>
        </p:nvSpPr>
        <p:spPr>
          <a:xfrm>
            <a:off x="988478" y="5861707"/>
            <a:ext cx="4187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CtrlrLuaMethodEditor.cpp </a:t>
            </a:r>
            <a:r>
              <a:rPr lang="en-US" sz="1100" noProof="1"/>
              <a:t>in UIComponents – CtrlrLua - MethodEditor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C9A2CC4-B749-9F04-65EB-162B6943BDA4}"/>
              </a:ext>
            </a:extLst>
          </p:cNvPr>
          <p:cNvCxnSpPr/>
          <p:nvPr/>
        </p:nvCxnSpPr>
        <p:spPr>
          <a:xfrm>
            <a:off x="2278110" y="3882730"/>
            <a:ext cx="0" cy="1969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289ED94-AB7D-1B50-1BEE-82236925A3DE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654321" y="1474064"/>
            <a:ext cx="0" cy="724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22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structure</a:t>
            </a:r>
          </a:p>
        </p:txBody>
      </p:sp>
      <p:pic>
        <p:nvPicPr>
          <p:cNvPr id="2050" name="Picture 2" descr="G:\2. Source code for build\CtrlrX-SunnySynths\Ctrlr-Struc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06" y="705232"/>
            <a:ext cx="10653318" cy="600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CD37EA-FC92-54AD-88FC-B290BC6D9174}"/>
              </a:ext>
            </a:extLst>
          </p:cNvPr>
          <p:cNvSpPr txBox="1"/>
          <p:nvPr/>
        </p:nvSpPr>
        <p:spPr>
          <a:xfrm>
            <a:off x="3050035" y="151236"/>
            <a:ext cx="8323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Picture from Damien. I think that </a:t>
            </a:r>
            <a:r>
              <a:rPr lang="en-US" dirty="0" err="1">
                <a:solidFill>
                  <a:srgbClr val="C00000"/>
                </a:solidFill>
              </a:rPr>
              <a:t>CtrlrEditor</a:t>
            </a:r>
            <a:r>
              <a:rPr lang="en-US" dirty="0">
                <a:solidFill>
                  <a:srgbClr val="C00000"/>
                </a:solidFill>
              </a:rPr>
              <a:t> and </a:t>
            </a:r>
            <a:r>
              <a:rPr lang="en-US" dirty="0" err="1">
                <a:solidFill>
                  <a:srgbClr val="C00000"/>
                </a:solidFill>
              </a:rPr>
              <a:t>CtrlrDocumentPanel</a:t>
            </a:r>
            <a:r>
              <a:rPr lang="en-US" dirty="0">
                <a:solidFill>
                  <a:srgbClr val="C00000"/>
                </a:solidFill>
              </a:rPr>
              <a:t> are inverted. TBC</a:t>
            </a:r>
          </a:p>
        </p:txBody>
      </p:sp>
    </p:spTree>
    <p:extLst>
      <p:ext uri="{BB962C8B-B14F-4D97-AF65-F5344CB8AC3E}">
        <p14:creationId xmlns:p14="http://schemas.microsoft.com/office/powerpoint/2010/main" val="411576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714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Ctrlr application properties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6" y="895562"/>
            <a:ext cx="1560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CtrlrProperties.h </a:t>
            </a:r>
            <a:r>
              <a:rPr lang="en-US" sz="1100" dirty="0"/>
              <a:t>in Core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914F5C6-EBFC-CE22-D774-C1421C8246EA}"/>
              </a:ext>
            </a:extLst>
          </p:cNvPr>
          <p:cNvSpPr/>
          <p:nvPr/>
        </p:nvSpPr>
        <p:spPr>
          <a:xfrm>
            <a:off x="643812" y="14960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147B6-9927-3FBC-0ACF-10B922E35875}"/>
              </a:ext>
            </a:extLst>
          </p:cNvPr>
          <p:cNvSpPr txBox="1"/>
          <p:nvPr/>
        </p:nvSpPr>
        <p:spPr>
          <a:xfrm>
            <a:off x="858416" y="1505162"/>
            <a:ext cx="16914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CtrlrProperties.cpp </a:t>
            </a:r>
            <a:r>
              <a:rPr lang="en-US" sz="1100" dirty="0"/>
              <a:t>in 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FD43C-2A38-D9DE-8FEE-C747E1A61C7A}"/>
              </a:ext>
            </a:extLst>
          </p:cNvPr>
          <p:cNvSpPr txBox="1"/>
          <p:nvPr/>
        </p:nvSpPr>
        <p:spPr>
          <a:xfrm>
            <a:off x="939282" y="1899318"/>
            <a:ext cx="3347492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Handling of the .settings file</a:t>
            </a:r>
          </a:p>
        </p:txBody>
      </p:sp>
    </p:spTree>
    <p:extLst>
      <p:ext uri="{BB962C8B-B14F-4D97-AF65-F5344CB8AC3E}">
        <p14:creationId xmlns:p14="http://schemas.microsoft.com/office/powerpoint/2010/main" val="10443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About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6" y="895562"/>
            <a:ext cx="13244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/>
              <a:t>CtrlrAbout.h</a:t>
            </a:r>
            <a:r>
              <a:rPr lang="en-US" sz="1100" i="1" dirty="0"/>
              <a:t> </a:t>
            </a:r>
            <a:r>
              <a:rPr lang="en-US" sz="1100" dirty="0"/>
              <a:t>in Core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914F5C6-EBFC-CE22-D774-C1421C8246EA}"/>
              </a:ext>
            </a:extLst>
          </p:cNvPr>
          <p:cNvSpPr/>
          <p:nvPr/>
        </p:nvSpPr>
        <p:spPr>
          <a:xfrm>
            <a:off x="643812" y="14960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147B6-9927-3FBC-0ACF-10B922E35875}"/>
              </a:ext>
            </a:extLst>
          </p:cNvPr>
          <p:cNvSpPr txBox="1"/>
          <p:nvPr/>
        </p:nvSpPr>
        <p:spPr>
          <a:xfrm>
            <a:off x="858416" y="1505162"/>
            <a:ext cx="1455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CtrlrAbout.cpp </a:t>
            </a:r>
            <a:r>
              <a:rPr lang="en-US" sz="1100" dirty="0"/>
              <a:t>in 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FD43C-2A38-D9DE-8FEE-C747E1A61C7A}"/>
              </a:ext>
            </a:extLst>
          </p:cNvPr>
          <p:cNvSpPr txBox="1"/>
          <p:nvPr/>
        </p:nvSpPr>
        <p:spPr>
          <a:xfrm>
            <a:off x="939282" y="1899318"/>
            <a:ext cx="3347492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Handling of the .settings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3293" y="2677886"/>
            <a:ext cx="8399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!! To check possibility to display some properties from the panel in the About window !!</a:t>
            </a:r>
          </a:p>
          <a:p>
            <a:r>
              <a:rPr lang="en-US" dirty="0"/>
              <a:t>This was in 5.3.201 (instance). Still in 5.6.34?</a:t>
            </a:r>
          </a:p>
        </p:txBody>
      </p:sp>
    </p:spTree>
    <p:extLst>
      <p:ext uri="{BB962C8B-B14F-4D97-AF65-F5344CB8AC3E}">
        <p14:creationId xmlns:p14="http://schemas.microsoft.com/office/powerpoint/2010/main" val="130150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1757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Ctrlr Preferences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6" y="895562"/>
            <a:ext cx="36423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/>
              <a:t>CtrlrSettings.h</a:t>
            </a:r>
            <a:r>
              <a:rPr lang="en-US" sz="1100" i="1" dirty="0"/>
              <a:t> </a:t>
            </a:r>
            <a:r>
              <a:rPr lang="en-US" sz="1100" noProof="1"/>
              <a:t>in UIComponents - CtrlrApplicationWindow</a:t>
            </a:r>
            <a:endParaRPr lang="en-US" sz="1100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914F5C6-EBFC-CE22-D774-C1421C8246EA}"/>
              </a:ext>
            </a:extLst>
          </p:cNvPr>
          <p:cNvSpPr/>
          <p:nvPr/>
        </p:nvSpPr>
        <p:spPr>
          <a:xfrm>
            <a:off x="643812" y="1312725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147B6-9927-3FBC-0ACF-10B922E35875}"/>
              </a:ext>
            </a:extLst>
          </p:cNvPr>
          <p:cNvSpPr txBox="1"/>
          <p:nvPr/>
        </p:nvSpPr>
        <p:spPr>
          <a:xfrm>
            <a:off x="858416" y="1321879"/>
            <a:ext cx="36359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CtrlrSettings.cpp </a:t>
            </a:r>
            <a:r>
              <a:rPr lang="en-US" sz="1100" dirty="0"/>
              <a:t>in </a:t>
            </a:r>
            <a:r>
              <a:rPr lang="en-US" sz="1100" noProof="1"/>
              <a:t>UIComponents - CtrlrApplicationWindow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45BE2-AF53-02C8-6E54-185E0DCD9035}"/>
              </a:ext>
            </a:extLst>
          </p:cNvPr>
          <p:cNvSpPr txBox="1"/>
          <p:nvPr/>
        </p:nvSpPr>
        <p:spPr>
          <a:xfrm>
            <a:off x="4612104" y="1000407"/>
            <a:ext cx="1912337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Display and fill of the Ctrlr Preferences popup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4BB6A5F8-C1EE-6935-074D-4B61E614A675}"/>
              </a:ext>
            </a:extLst>
          </p:cNvPr>
          <p:cNvSpPr/>
          <p:nvPr/>
        </p:nvSpPr>
        <p:spPr>
          <a:xfrm>
            <a:off x="643812" y="2545372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6F3E5-4E23-4794-D7AB-FAC3D63A7B38}"/>
              </a:ext>
            </a:extLst>
          </p:cNvPr>
          <p:cNvSpPr txBox="1"/>
          <p:nvPr/>
        </p:nvSpPr>
        <p:spPr>
          <a:xfrm>
            <a:off x="858416" y="2554526"/>
            <a:ext cx="19639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CtrlrIDs.xml </a:t>
            </a:r>
            <a:r>
              <a:rPr lang="en-US" sz="1100" noProof="1"/>
              <a:t>in Resources - XML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193628C-2325-9596-DC74-198D9364B4DF}"/>
              </a:ext>
            </a:extLst>
          </p:cNvPr>
          <p:cNvSpPr/>
          <p:nvPr/>
        </p:nvSpPr>
        <p:spPr>
          <a:xfrm rot="10800000">
            <a:off x="1787430" y="1654393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BCA07-60A0-FEB2-6F5D-F5FEACF25CF4}"/>
              </a:ext>
            </a:extLst>
          </p:cNvPr>
          <p:cNvSpPr txBox="1"/>
          <p:nvPr/>
        </p:nvSpPr>
        <p:spPr>
          <a:xfrm>
            <a:off x="858416" y="3799705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CtrlrIDs.h </a:t>
            </a:r>
            <a:r>
              <a:rPr lang="en-US" sz="1100" noProof="1"/>
              <a:t>in 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E0D7B-A823-C6AB-32AF-A34CC394CEF7}"/>
              </a:ext>
            </a:extLst>
          </p:cNvPr>
          <p:cNvSpPr txBox="1"/>
          <p:nvPr/>
        </p:nvSpPr>
        <p:spPr>
          <a:xfrm>
            <a:off x="4411579" y="2468843"/>
            <a:ext cx="407469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ctrlrEditorBounds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ctrlrMaxExportedVstParameters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ctrlrShutdownDelay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ctrlrUseEditorWrapper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ctrlrVersionSeparator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ctrlrVersionCompressed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ctrlrMidiMonInputBufferSize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ctrlrMidiMonOutputBufferSize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ctrlrLogMidiInput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ctrlrLogMidiOutput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ctrlrLogOptions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ctrlrLuaDisabled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ctrlrLastBrowsedResourceDir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ctrlrLogToFile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ctrlrLuaDebug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ctrlrOverwriteResources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ctrlrAutoSave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ctrlrAutoSaveInterval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ctrlrLastBrowsedFileDirectory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ctrlrOpenWindowState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ctrlrRecenetOpenedPanelFiles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ctrlrPropertiesAreURLs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ctrlrKeyboardMapping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ctrlrCapabilities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ctrlrLastMenuItemId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ctrlrNativeAlerts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ctrlrNativeFileDialogs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ctrlrMenuItemBackgroundColour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ctrlrMenuItemTextColour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ctrlrMenuItemHighlightedTextColour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ctrlrMenuItemHighlightColour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ctrlrMenuItemFont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ctrlrMenuItemSeparatorColour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ctrlrMenuItemHeaderColour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A3BC44-B8DB-0031-B900-2B52EEA4408E}"/>
              </a:ext>
            </a:extLst>
          </p:cNvPr>
          <p:cNvSpPr txBox="1"/>
          <p:nvPr/>
        </p:nvSpPr>
        <p:spPr>
          <a:xfrm>
            <a:off x="1548064" y="4846979"/>
            <a:ext cx="425115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(ctrlrMenuBarBackgroundColour1);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(ctrlrMenuBarBackgroundColour2);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ctrlrMenuBarTextColour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ctrlrMenuBarHeight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ctrlrMenuBarHighlightedTextColour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ctrlrMenuBarHighlightColour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ctrlrMenuBarFont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ctrlrPrivateKey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ctrlrFontSizeBaseValue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ctrlrScrollbarThickness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ctrlrColourScheme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ctrlrLookAndFeel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ctrlrTabBarDepth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EF8F2F-B63E-DED7-83B5-712FC3845B2C}"/>
              </a:ext>
            </a:extLst>
          </p:cNvPr>
          <p:cNvSpPr txBox="1"/>
          <p:nvPr/>
        </p:nvSpPr>
        <p:spPr>
          <a:xfrm>
            <a:off x="1774019" y="4598672"/>
            <a:ext cx="1453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>
                <a:solidFill>
                  <a:srgbClr val="C00000"/>
                </a:solidFill>
              </a:rPr>
              <a:t>New ones in 5.6.30?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AA24125-0F37-DDBE-EC6E-EAEBC449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90" y="335902"/>
            <a:ext cx="4530782" cy="62290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B97A7C9-8179-4E3B-452F-84D6AE376DB8}"/>
              </a:ext>
            </a:extLst>
          </p:cNvPr>
          <p:cNvSpPr txBox="1"/>
          <p:nvPr/>
        </p:nvSpPr>
        <p:spPr>
          <a:xfrm>
            <a:off x="931916" y="4161936"/>
            <a:ext cx="2372758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DECLARE_ID (</a:t>
            </a:r>
            <a:r>
              <a:rPr lang="en-US" sz="1100" i="1" noProof="1"/>
              <a:t>each_property_name</a:t>
            </a:r>
            <a:r>
              <a:rPr lang="en-US" sz="1100" noProof="1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26594-EA68-19BC-F1EA-9CA869B6BE07}"/>
              </a:ext>
            </a:extLst>
          </p:cNvPr>
          <p:cNvSpPr txBox="1"/>
          <p:nvPr/>
        </p:nvSpPr>
        <p:spPr>
          <a:xfrm>
            <a:off x="2857552" y="2845662"/>
            <a:ext cx="5277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name</a:t>
            </a:r>
          </a:p>
          <a:p>
            <a:r>
              <a:rPr lang="en-US" sz="1100" noProof="1"/>
              <a:t>text</a:t>
            </a:r>
          </a:p>
          <a:p>
            <a:r>
              <a:rPr lang="en-US" sz="1100" noProof="1"/>
              <a:t>type</a:t>
            </a:r>
          </a:p>
          <a:p>
            <a:r>
              <a:rPr lang="en-US" sz="1100" noProof="1"/>
              <a:t>...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733802-2C23-EE54-D727-13F8837FF0FC}"/>
              </a:ext>
            </a:extLst>
          </p:cNvPr>
          <p:cNvSpPr txBox="1"/>
          <p:nvPr/>
        </p:nvSpPr>
        <p:spPr>
          <a:xfrm>
            <a:off x="939282" y="2934688"/>
            <a:ext cx="1747935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Definitions of all properties and their type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75F2DB36-ECA0-1FF7-98AD-73DAA8DA27B7}"/>
              </a:ext>
            </a:extLst>
          </p:cNvPr>
          <p:cNvSpPr/>
          <p:nvPr/>
        </p:nvSpPr>
        <p:spPr>
          <a:xfrm>
            <a:off x="643812" y="3790550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6E8CB10-8F9F-331D-6EED-F2FE41BC4F3E}"/>
              </a:ext>
            </a:extLst>
          </p:cNvPr>
          <p:cNvSpPr/>
          <p:nvPr/>
        </p:nvSpPr>
        <p:spPr>
          <a:xfrm rot="10800000">
            <a:off x="1787430" y="3484127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A455F8-7F94-5011-264C-D2123CEA2B7D}"/>
              </a:ext>
            </a:extLst>
          </p:cNvPr>
          <p:cNvSpPr txBox="1"/>
          <p:nvPr/>
        </p:nvSpPr>
        <p:spPr>
          <a:xfrm>
            <a:off x="164728" y="2006186"/>
            <a:ext cx="7380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&lt;!--</a:t>
            </a:r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 Global Ctrlr settings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--&gt;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 &lt;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id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0000FF"/>
                </a:solidFill>
                <a:latin typeface="Consolas" panose="020B0609020204030204" pitchFamily="49" charset="0"/>
              </a:rPr>
              <a:t>ctrlrMaxExportedVstParameters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Max exported VST params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Numeric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999999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 &lt;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id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0000FF"/>
                </a:solidFill>
                <a:latin typeface="Consolas" panose="020B0609020204030204" pitchFamily="49" charset="0"/>
              </a:rPr>
              <a:t>ctrlrLogToFile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Log everything to file (for debugging)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5C501-7EF7-C032-F4AA-FFF84D8FD1D4}"/>
              </a:ext>
            </a:extLst>
          </p:cNvPr>
          <p:cNvSpPr txBox="1"/>
          <p:nvPr/>
        </p:nvSpPr>
        <p:spPr>
          <a:xfrm>
            <a:off x="8728272" y="153883"/>
            <a:ext cx="2800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>
                <a:solidFill>
                  <a:srgbClr val="C00000"/>
                </a:solidFill>
              </a:rPr>
              <a:t>Don’t know where the order is specified...</a:t>
            </a:r>
          </a:p>
        </p:txBody>
      </p:sp>
    </p:spTree>
    <p:extLst>
      <p:ext uri="{BB962C8B-B14F-4D97-AF65-F5344CB8AC3E}">
        <p14:creationId xmlns:p14="http://schemas.microsoft.com/office/powerpoint/2010/main" val="244947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46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Ctrlr Look and Feel (1/2)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2" y="1163991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6" y="1173145"/>
            <a:ext cx="44406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Juce_LookAndFeel_V3.cpp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914F5C6-EBFC-CE22-D774-C1421C8246EA}"/>
              </a:ext>
            </a:extLst>
          </p:cNvPr>
          <p:cNvSpPr/>
          <p:nvPr/>
        </p:nvSpPr>
        <p:spPr>
          <a:xfrm>
            <a:off x="643812" y="1593976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147B6-9927-3FBC-0ACF-10B922E35875}"/>
              </a:ext>
            </a:extLst>
          </p:cNvPr>
          <p:cNvSpPr txBox="1"/>
          <p:nvPr/>
        </p:nvSpPr>
        <p:spPr>
          <a:xfrm>
            <a:off x="858416" y="1603130"/>
            <a:ext cx="4472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Juce_LookAndFeel_V4.cpp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5D7C8-1B37-DFE7-5F2B-06A01910C1D0}"/>
              </a:ext>
            </a:extLst>
          </p:cNvPr>
          <p:cNvSpPr txBox="1"/>
          <p:nvPr/>
        </p:nvSpPr>
        <p:spPr>
          <a:xfrm>
            <a:off x="5513659" y="1182300"/>
            <a:ext cx="4283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StretchableLayoutResizerBar: g.fillAll (Colours::yellow.withAlpha (0.4f));</a:t>
            </a: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308D3B9F-6705-209D-2BC8-E8ED86241852}"/>
              </a:ext>
            </a:extLst>
          </p:cNvPr>
          <p:cNvSpPr/>
          <p:nvPr/>
        </p:nvSpPr>
        <p:spPr>
          <a:xfrm>
            <a:off x="643812" y="2797266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CA3C62-5FDA-3976-E8E4-3D04BF03B679}"/>
              </a:ext>
            </a:extLst>
          </p:cNvPr>
          <p:cNvSpPr txBox="1"/>
          <p:nvPr/>
        </p:nvSpPr>
        <p:spPr>
          <a:xfrm>
            <a:off x="858416" y="2806420"/>
            <a:ext cx="4472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Juce_LookAndFeel_V4.h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7202A-2A22-D2CB-2C7E-DF8A0B1ABC98}"/>
              </a:ext>
            </a:extLst>
          </p:cNvPr>
          <p:cNvSpPr txBox="1"/>
          <p:nvPr/>
        </p:nvSpPr>
        <p:spPr>
          <a:xfrm>
            <a:off x="939282" y="1997286"/>
            <a:ext cx="2289110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Colours for each V4 ColourSchemes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44927-34A8-58E7-65B5-4B75DFAB1654}"/>
              </a:ext>
            </a:extLst>
          </p:cNvPr>
          <p:cNvSpPr txBox="1"/>
          <p:nvPr/>
        </p:nvSpPr>
        <p:spPr>
          <a:xfrm>
            <a:off x="939282" y="3200576"/>
            <a:ext cx="2289110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Structure and declarations of V4 ColourSchemes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EEF99-DF06-6A4A-A218-E4E30D0A2153}"/>
              </a:ext>
            </a:extLst>
          </p:cNvPr>
          <p:cNvSpPr txBox="1"/>
          <p:nvPr/>
        </p:nvSpPr>
        <p:spPr>
          <a:xfrm>
            <a:off x="5513659" y="2797266"/>
            <a:ext cx="492955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static ColourScheme getDarkColourScheme();</a:t>
            </a:r>
          </a:p>
          <a:p>
            <a:r>
              <a:rPr lang="en-US" sz="1100" noProof="1"/>
              <a:t>static ColourScheme getMidnightColourScheme();</a:t>
            </a:r>
          </a:p>
          <a:p>
            <a:r>
              <a:rPr lang="en-US" sz="1100" noProof="1"/>
              <a:t>static ColourScheme getGreyColourScheme();</a:t>
            </a:r>
          </a:p>
          <a:p>
            <a:r>
              <a:rPr lang="en-US" sz="1100" noProof="1"/>
              <a:t>static ColourScheme getLightColourScheme();</a:t>
            </a:r>
          </a:p>
          <a:p>
            <a:r>
              <a:rPr lang="en-US" sz="1100" noProof="1"/>
              <a:t>static ColourScheme getJetBlackColourScheme();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getYamDxColourScheme();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getAkApcColourScheme();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getAkMpcColourScheme();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getLexiBlueColourScheme();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getKurzGreenColourScheme();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getKorGreyColourScheme();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getKorGoldColourScheme();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getArturOrangeColourScheme();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static ColourScheme getAiraGreenColourScheme();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B49AD-B99B-3146-73E5-5E63015BB521}"/>
              </a:ext>
            </a:extLst>
          </p:cNvPr>
          <p:cNvSpPr txBox="1"/>
          <p:nvPr/>
        </p:nvSpPr>
        <p:spPr>
          <a:xfrm>
            <a:off x="5513659" y="1603130"/>
            <a:ext cx="61734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LookAndFeel_V4::ColourScheme LookAndFeel_V4::getYamDxColourScheme() </a:t>
            </a:r>
            <a:r>
              <a:rPr lang="en-US" sz="1100" noProof="1">
                <a:solidFill>
                  <a:schemeClr val="accent6">
                    <a:lumMod val="75000"/>
                  </a:schemeClr>
                </a:solidFill>
              </a:rPr>
              <a:t>// Added for CtrlrX v5.6.30</a:t>
            </a:r>
          </a:p>
          <a:p>
            <a:r>
              <a:rPr lang="en-US" sz="1100" noProof="1"/>
              <a:t>{</a:t>
            </a:r>
          </a:p>
          <a:p>
            <a:r>
              <a:rPr lang="en-US" sz="1100" noProof="1"/>
              <a:t>    return { 0xff0b0b0b, 0xff0f0f0f, 0xff111111,</a:t>
            </a:r>
          </a:p>
          <a:p>
            <a:r>
              <a:rPr lang="en-US" sz="1100" noProof="1"/>
              <a:t>             0xff666666, 0xfffffbed, 0xff29cfc1,</a:t>
            </a:r>
          </a:p>
          <a:p>
            <a:r>
              <a:rPr lang="en-US" sz="1100" noProof="1"/>
              <a:t>             0xffffffff, 0xff8584bc, 0xfffffdf2 };</a:t>
            </a:r>
          </a:p>
          <a:p>
            <a:r>
              <a:rPr lang="en-US" sz="1100" noProof="1"/>
              <a:t>}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45AEA85-4BF4-D1D8-5778-A012A0C4B0A9}"/>
              </a:ext>
            </a:extLst>
          </p:cNvPr>
          <p:cNvSpPr/>
          <p:nvPr/>
        </p:nvSpPr>
        <p:spPr>
          <a:xfrm rot="10800000">
            <a:off x="1787430" y="2423557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AACA3B91-27BC-0E3F-D928-8DFE0AC59E0B}"/>
              </a:ext>
            </a:extLst>
          </p:cNvPr>
          <p:cNvSpPr/>
          <p:nvPr/>
        </p:nvSpPr>
        <p:spPr>
          <a:xfrm>
            <a:off x="643812" y="5116084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B6E32-F8C4-C1C8-75E1-858168ECB190}"/>
              </a:ext>
            </a:extLst>
          </p:cNvPr>
          <p:cNvSpPr txBox="1"/>
          <p:nvPr/>
        </p:nvSpPr>
        <p:spPr>
          <a:xfrm>
            <a:off x="858416" y="5125238"/>
            <a:ext cx="24625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CtrlrIDs.xml </a:t>
            </a:r>
            <a:r>
              <a:rPr lang="en-US" sz="1100" noProof="1"/>
              <a:t>in Source - Resources - XML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545F22-A7CB-E104-DE4C-7E7614F153BE}"/>
              </a:ext>
            </a:extLst>
          </p:cNvPr>
          <p:cNvSpPr txBox="1"/>
          <p:nvPr/>
        </p:nvSpPr>
        <p:spPr>
          <a:xfrm>
            <a:off x="939282" y="5560664"/>
            <a:ext cx="1747935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ColourSchemes constants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ECB8382-CC9E-C511-1E6F-86CE1A8E607D}"/>
              </a:ext>
            </a:extLst>
          </p:cNvPr>
          <p:cNvSpPr/>
          <p:nvPr/>
        </p:nvSpPr>
        <p:spPr>
          <a:xfrm rot="10800000">
            <a:off x="1787430" y="4764519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FFCB8A-1DD8-7AE8-6C5D-18A4AAE91C13}"/>
              </a:ext>
            </a:extLst>
          </p:cNvPr>
          <p:cNvSpPr txBox="1"/>
          <p:nvPr/>
        </p:nvSpPr>
        <p:spPr>
          <a:xfrm>
            <a:off x="3033974" y="5237336"/>
            <a:ext cx="86531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1"/>
              <a:t>&lt;const name="componentlookandfeel" value="Default,V4 Light,V4 Grey,V4 Dark,V4 Midnight,V4 JetBlack,V4 YamDX,V4 AkAPC,V4 AkMPC,V4 LexiBlue,V4 KurzGreen,V4 KorGrey,V4 KorGold,V4 ArturOrange,V4 AiraGreen,V3,V2,V1" /&gt;</a:t>
            </a:r>
          </a:p>
          <a:p>
            <a:r>
              <a:rPr lang="en-US" sz="1100" noProof="1"/>
              <a:t>&lt;const name="lookandfeelschemes"   value="V4 Light,V4 Grey,V4 Dark,V4 Midnight,V4 JetBlack,V4 YamDX,V4 AkAPC,V4 AkMPC,V4 LexiBlue,V4 KurzGreen,V4 KorGrey,V4 KorGold,V4 ArturOrange,V4 AiraGreen,V3,V2,V1" /&gt;</a:t>
            </a:r>
          </a:p>
          <a:p>
            <a:r>
              <a:rPr lang="en-US" sz="1100" noProof="1"/>
              <a:t>&lt;const name="ctrlrColourSchemes"   value="Light,Grey,Dark,Midnight,JetBlack,YamDX,AkAPC,AkMPC,LexiBlue,KurzGreen,KorGrey,KorGold,ArturOrange,AiraGreen" /&gt;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51C57A-5879-F9B9-6C9F-B20470ABA4D5}"/>
              </a:ext>
            </a:extLst>
          </p:cNvPr>
          <p:cNvSpPr txBox="1"/>
          <p:nvPr/>
        </p:nvSpPr>
        <p:spPr>
          <a:xfrm>
            <a:off x="8414736" y="1934864"/>
            <a:ext cx="3604199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 windowBackground, widgetBackground, menuBackground,</a:t>
            </a:r>
          </a:p>
          <a:p>
            <a:r>
              <a:rPr lang="en-US" sz="1100" noProof="1"/>
              <a:t> outline, defaultText, defaultFill,</a:t>
            </a:r>
          </a:p>
          <a:p>
            <a:r>
              <a:rPr lang="en-US" sz="1100" noProof="1"/>
              <a:t> highlightedText, highlightedFill, menuText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DA160-EB90-49FC-ECBA-F36D71A57D15}"/>
              </a:ext>
            </a:extLst>
          </p:cNvPr>
          <p:cNvSpPr txBox="1"/>
          <p:nvPr/>
        </p:nvSpPr>
        <p:spPr>
          <a:xfrm>
            <a:off x="939282" y="6382408"/>
            <a:ext cx="8057762" cy="261610"/>
          </a:xfrm>
          <a:prstGeom prst="rect">
            <a:avLst/>
          </a:prstGeom>
          <a:solidFill>
            <a:srgbClr val="E1A18F"/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!! Any modification of </a:t>
            </a:r>
            <a:r>
              <a:rPr lang="en-US" sz="1100" i="1" noProof="1"/>
              <a:t>CtrlrIDs.xml</a:t>
            </a:r>
            <a:r>
              <a:rPr lang="en-US" sz="1100" noProof="1"/>
              <a:t> requires deleting the temporary files in Builds/VisualStudio2022 and remaking them from the Projucer</a:t>
            </a:r>
          </a:p>
        </p:txBody>
      </p:sp>
      <p:sp>
        <p:nvSpPr>
          <p:cNvPr id="2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1" y="736726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5" y="745880"/>
            <a:ext cx="44406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Juce_LookAndFeel_V2.cpp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16987A-AC86-1053-003B-A881781771DF}"/>
              </a:ext>
            </a:extLst>
          </p:cNvPr>
          <p:cNvSpPr txBox="1"/>
          <p:nvPr/>
        </p:nvSpPr>
        <p:spPr>
          <a:xfrm>
            <a:off x="6712676" y="228600"/>
            <a:ext cx="5179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 BE ADAPTED TO NEW WAY TO CREATE V4 THEMES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07202A-2A22-D2CB-2C7E-DF8A0B1ABC98}"/>
              </a:ext>
            </a:extLst>
          </p:cNvPr>
          <p:cNvSpPr txBox="1"/>
          <p:nvPr/>
        </p:nvSpPr>
        <p:spPr>
          <a:xfrm>
            <a:off x="5513659" y="755035"/>
            <a:ext cx="3347492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All colours for each type of component in v2 and v3</a:t>
            </a:r>
          </a:p>
        </p:txBody>
      </p:sp>
      <p:sp>
        <p:nvSpPr>
          <p:cNvPr id="20" name="Right Brace 19"/>
          <p:cNvSpPr/>
          <p:nvPr/>
        </p:nvSpPr>
        <p:spPr>
          <a:xfrm>
            <a:off x="5233743" y="736726"/>
            <a:ext cx="214604" cy="698030"/>
          </a:xfrm>
          <a:prstGeom prst="rightBrace">
            <a:avLst>
              <a:gd name="adj1" fmla="val 8333"/>
              <a:gd name="adj2" fmla="val 211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3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66F9-A30F-CF28-3BCA-A1277C72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3E650-6A82-FC00-1BBA-8487F624A954}"/>
              </a:ext>
            </a:extLst>
          </p:cNvPr>
          <p:cNvSpPr txBox="1"/>
          <p:nvPr/>
        </p:nvSpPr>
        <p:spPr>
          <a:xfrm>
            <a:off x="550506" y="335902"/>
            <a:ext cx="246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Ctrlr Look and Feel (2/2)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C8A7C96C-E064-311F-6810-BA3E33C1CD7E}"/>
              </a:ext>
            </a:extLst>
          </p:cNvPr>
          <p:cNvSpPr/>
          <p:nvPr/>
        </p:nvSpPr>
        <p:spPr>
          <a:xfrm>
            <a:off x="641480" y="898662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2A0FD5-CCD7-9F7E-A9BC-0663419E7364}"/>
              </a:ext>
            </a:extLst>
          </p:cNvPr>
          <p:cNvSpPr txBox="1"/>
          <p:nvPr/>
        </p:nvSpPr>
        <p:spPr>
          <a:xfrm>
            <a:off x="856084" y="907816"/>
            <a:ext cx="18870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CtrlrInlineUtilities.cpp </a:t>
            </a:r>
            <a:r>
              <a:rPr lang="en-US" sz="1100" dirty="0"/>
              <a:t>in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2DA160-EB90-49FC-ECBA-F36D71A57D15}"/>
              </a:ext>
            </a:extLst>
          </p:cNvPr>
          <p:cNvSpPr txBox="1"/>
          <p:nvPr/>
        </p:nvSpPr>
        <p:spPr>
          <a:xfrm>
            <a:off x="641480" y="1488138"/>
            <a:ext cx="4029482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Colours for some V4 ColourSchemes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124" y="1749748"/>
            <a:ext cx="2757362" cy="335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2DA160-EB90-49FC-ECBA-F36D71A57D15}"/>
              </a:ext>
            </a:extLst>
          </p:cNvPr>
          <p:cNvSpPr txBox="1"/>
          <p:nvPr/>
        </p:nvSpPr>
        <p:spPr>
          <a:xfrm>
            <a:off x="8369268" y="1488138"/>
            <a:ext cx="3451217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Green: widgetBackground	Red: windowBackground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50505" y="3701976"/>
            <a:ext cx="689532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juce</a:t>
            </a:r>
            <a:r>
              <a:rPr lang="en-US" sz="1100" dirty="0"/>
              <a:t>::LookAndFeel_V4::</a:t>
            </a:r>
            <a:r>
              <a:rPr lang="en-US" sz="1100" dirty="0" err="1"/>
              <a:t>ColourScheme</a:t>
            </a:r>
            <a:r>
              <a:rPr lang="en-US" sz="1100" dirty="0"/>
              <a:t> </a:t>
            </a:r>
            <a:r>
              <a:rPr lang="en-US" sz="1100" dirty="0" err="1"/>
              <a:t>getClassicColourScheme</a:t>
            </a:r>
            <a:r>
              <a:rPr lang="en-US" sz="1100" dirty="0"/>
              <a:t>() // Added for </a:t>
            </a:r>
            <a:r>
              <a:rPr lang="en-US" sz="1100" dirty="0" err="1"/>
              <a:t>CtrlrX</a:t>
            </a:r>
            <a:r>
              <a:rPr lang="en-US" sz="1100" dirty="0"/>
              <a:t> v5.6.34 by @dobo365 DB</a:t>
            </a:r>
          </a:p>
          <a:p>
            <a:r>
              <a:rPr lang="en-US" sz="1100" dirty="0"/>
              <a:t>{</a:t>
            </a:r>
          </a:p>
          <a:p>
            <a:r>
              <a:rPr lang="en-US" sz="1100" dirty="0"/>
              <a:t>    return { 0xffaaaaaa, 0xffdddddd, 0xffffffff,</a:t>
            </a:r>
          </a:p>
          <a:p>
            <a:r>
              <a:rPr lang="en-US" sz="1100" dirty="0"/>
              <a:t>             0xff666666, 0xff000000, 0xff8584bc,</a:t>
            </a:r>
          </a:p>
          <a:p>
            <a:r>
              <a:rPr lang="en-US" sz="1100" dirty="0"/>
              <a:t>             0xff000000, 0xffd9d2e9, 0xff000000 };</a:t>
            </a:r>
          </a:p>
          <a:p>
            <a:r>
              <a:rPr lang="en-US" sz="1100" dirty="0"/>
              <a:t>}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80" y="1886486"/>
            <a:ext cx="7818763" cy="169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585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1523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AlertWindows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2F0CCEC3-21A5-F92D-FBFE-C830549559F9}"/>
              </a:ext>
            </a:extLst>
          </p:cNvPr>
          <p:cNvSpPr/>
          <p:nvPr/>
        </p:nvSpPr>
        <p:spPr>
          <a:xfrm>
            <a:off x="643812" y="1498729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9DB6C-D32F-01F4-71C2-22CABA02546C}"/>
              </a:ext>
            </a:extLst>
          </p:cNvPr>
          <p:cNvSpPr txBox="1"/>
          <p:nvPr/>
        </p:nvSpPr>
        <p:spPr>
          <a:xfrm>
            <a:off x="858416" y="1507883"/>
            <a:ext cx="4110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Juce_AlertWindow.cpp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windows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93ACA03D-CC40-789F-25A3-6F60C4F426E2}"/>
              </a:ext>
            </a:extLst>
          </p:cNvPr>
          <p:cNvSpPr/>
          <p:nvPr/>
        </p:nvSpPr>
        <p:spPr>
          <a:xfrm>
            <a:off x="643812" y="2108329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A3501C-0D94-8CC7-C030-6236B7176A5B}"/>
              </a:ext>
            </a:extLst>
          </p:cNvPr>
          <p:cNvSpPr txBox="1"/>
          <p:nvPr/>
        </p:nvSpPr>
        <p:spPr>
          <a:xfrm>
            <a:off x="858416" y="2117483"/>
            <a:ext cx="40110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/>
              <a:t>Juce</a:t>
            </a:r>
            <a:r>
              <a:rPr lang="en-US" sz="1100" i="1" dirty="0"/>
              <a:t>_ </a:t>
            </a:r>
            <a:r>
              <a:rPr lang="en-US" sz="1100" i="1" dirty="0" err="1"/>
              <a:t>AlertWindow.h</a:t>
            </a:r>
            <a:r>
              <a:rPr lang="en-US" sz="1100" i="1" dirty="0"/>
              <a:t>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windows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09E19D5-BF03-CBC0-F5AB-98A63E2545BB}"/>
              </a:ext>
            </a:extLst>
          </p:cNvPr>
          <p:cNvSpPr/>
          <p:nvPr/>
        </p:nvSpPr>
        <p:spPr>
          <a:xfrm rot="10800000">
            <a:off x="1787430" y="1808106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BC158E4C-7617-00AB-4D71-830A2FEABDD0}"/>
              </a:ext>
            </a:extLst>
          </p:cNvPr>
          <p:cNvSpPr/>
          <p:nvPr/>
        </p:nvSpPr>
        <p:spPr>
          <a:xfrm>
            <a:off x="643812" y="3029304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B64D5-658B-7111-C349-31CFD1FB97D5}"/>
              </a:ext>
            </a:extLst>
          </p:cNvPr>
          <p:cNvSpPr txBox="1"/>
          <p:nvPr/>
        </p:nvSpPr>
        <p:spPr>
          <a:xfrm>
            <a:off x="858416" y="3038458"/>
            <a:ext cx="4472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Juce_LookAndFeel_V4.cpp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5C503C0-6410-F852-1609-FC58C9FCACAA}"/>
              </a:ext>
            </a:extLst>
          </p:cNvPr>
          <p:cNvSpPr/>
          <p:nvPr/>
        </p:nvSpPr>
        <p:spPr>
          <a:xfrm rot="10800000">
            <a:off x="1787430" y="2579770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A4D243-0F05-0B5A-B733-E9CB44B5CF96}"/>
              </a:ext>
            </a:extLst>
          </p:cNvPr>
          <p:cNvSpPr txBox="1"/>
          <p:nvPr/>
        </p:nvSpPr>
        <p:spPr>
          <a:xfrm>
            <a:off x="932958" y="3478499"/>
            <a:ext cx="3311382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Colours for each V4 ColourSchemes + All other colors</a:t>
            </a:r>
          </a:p>
          <a:p>
            <a:r>
              <a:rPr lang="en-US" sz="1100" noProof="1"/>
              <a:t>Code for abstract base class AlertWindow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46EFCCA3-C9D4-0EF7-2848-F875BDA10531}"/>
              </a:ext>
            </a:extLst>
          </p:cNvPr>
          <p:cNvSpPr/>
          <p:nvPr/>
        </p:nvSpPr>
        <p:spPr>
          <a:xfrm>
            <a:off x="637488" y="4537351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2EB5C0-18AE-FEEB-A7BB-93E56F2C3BF2}"/>
              </a:ext>
            </a:extLst>
          </p:cNvPr>
          <p:cNvSpPr txBox="1"/>
          <p:nvPr/>
        </p:nvSpPr>
        <p:spPr>
          <a:xfrm>
            <a:off x="852092" y="4546505"/>
            <a:ext cx="4472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Juce_LookAndFeel_V4.h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2F7FB2-D074-029B-C6C3-E3FC3C66F255}"/>
              </a:ext>
            </a:extLst>
          </p:cNvPr>
          <p:cNvSpPr txBox="1"/>
          <p:nvPr/>
        </p:nvSpPr>
        <p:spPr>
          <a:xfrm>
            <a:off x="932958" y="4940661"/>
            <a:ext cx="3311382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Structure and declarations of V4 ColourSchemes</a:t>
            </a:r>
          </a:p>
          <a:p>
            <a:r>
              <a:rPr lang="en-US" sz="1100" noProof="1"/>
              <a:t>Declarations for abstract base class AlertWindow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B7A210A6-4E25-EC76-449F-98B079230D7D}"/>
              </a:ext>
            </a:extLst>
          </p:cNvPr>
          <p:cNvSpPr/>
          <p:nvPr/>
        </p:nvSpPr>
        <p:spPr>
          <a:xfrm rot="10800000">
            <a:off x="1781106" y="4087817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50DCC8-0F63-361C-499D-C93EBBD7DAD8}"/>
              </a:ext>
            </a:extLst>
          </p:cNvPr>
          <p:cNvSpPr txBox="1"/>
          <p:nvPr/>
        </p:nvSpPr>
        <p:spPr>
          <a:xfrm>
            <a:off x="5324791" y="458671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title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message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button1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button2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button3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AlertIconType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iconType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numButtons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Component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associatedComponent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drawAlertBox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&amp;, 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&gt;&amp;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textArea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TextLayout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getAlertWindowButtonHeight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getAlertWindowTitleFont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getAlertWindowMessageFont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getAlertWindowFont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AC38F-75CB-EAF7-AD9F-2481DA2DF406}"/>
              </a:ext>
            </a:extLst>
          </p:cNvPr>
          <p:cNvSpPr txBox="1"/>
          <p:nvPr/>
        </p:nvSpPr>
        <p:spPr>
          <a:xfrm>
            <a:off x="5372391" y="3987789"/>
            <a:ext cx="6819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F4F4F"/>
                </a:solidFill>
                <a:latin typeface="Consolas" panose="020B0609020204030204" pitchFamily="49" charset="0"/>
              </a:rPr>
              <a:t>backgroundColourId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currentColourScheme.getUIColour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ColourScheme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UIColour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C00000"/>
                </a:solidFill>
                <a:latin typeface="Consolas" panose="020B0609020204030204" pitchFamily="49" charset="0"/>
              </a:rPr>
              <a:t>widgetBackground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getARGB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F4F4F"/>
                </a:solidFill>
                <a:latin typeface="Consolas" panose="020B0609020204030204" pitchFamily="49" charset="0"/>
              </a:rPr>
              <a:t>textColourId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currentColourScheme.getUIColour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ColourScheme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UIColour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F4F4F"/>
                </a:solidFill>
                <a:latin typeface="Consolas" panose="020B0609020204030204" pitchFamily="49" charset="0"/>
              </a:rPr>
              <a:t>defaultText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getARGB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F4F4F"/>
                </a:solidFill>
                <a:latin typeface="Consolas" panose="020B0609020204030204" pitchFamily="49" charset="0"/>
              </a:rPr>
              <a:t>outlineColourId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currentColourScheme.getUIColour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ColourScheme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UIColour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>
                <a:solidFill>
                  <a:srgbClr val="2F4F4F"/>
                </a:solidFill>
                <a:latin typeface="Consolas" panose="020B0609020204030204" pitchFamily="49" charset="0"/>
              </a:rPr>
              <a:t>outline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getARGB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  <a:endParaRPr 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65A895-170F-6F8C-ED7F-20B4FA3C7FC2}"/>
              </a:ext>
            </a:extLst>
          </p:cNvPr>
          <p:cNvSpPr txBox="1"/>
          <p:nvPr/>
        </p:nvSpPr>
        <p:spPr>
          <a:xfrm>
            <a:off x="5372390" y="3029304"/>
            <a:ext cx="6690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LookAndFeel_V4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title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message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button1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button2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button3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  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AlertIconType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iconType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numButtons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Component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associatedComponent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LookAndFeel_V4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drawAlertBox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Graphics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AlertWindow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>
                <a:solidFill>
                  <a:srgbClr val="808080"/>
                </a:solidFill>
                <a:latin typeface="Consolas" panose="020B0609020204030204" pitchFamily="49" charset="0"/>
              </a:rPr>
              <a:t>alert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&gt;&amp;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textArea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 err="1">
                <a:solidFill>
                  <a:srgbClr val="2B91AF"/>
                </a:solidFill>
                <a:latin typeface="Consolas" panose="020B0609020204030204" pitchFamily="49" charset="0"/>
              </a:rPr>
              <a:t>TextLayout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800" dirty="0" err="1">
                <a:solidFill>
                  <a:srgbClr val="808080"/>
                </a:solidFill>
                <a:latin typeface="Consolas" panose="020B0609020204030204" pitchFamily="49" charset="0"/>
              </a:rPr>
              <a:t>textLayout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FB9210-4A5B-F8C0-AC5B-09559067D741}"/>
              </a:ext>
            </a:extLst>
          </p:cNvPr>
          <p:cNvSpPr txBox="1"/>
          <p:nvPr/>
        </p:nvSpPr>
        <p:spPr>
          <a:xfrm>
            <a:off x="5158719" y="1423244"/>
            <a:ext cx="6262071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Code for high level AlertWindows (warning, question, info) based on the abstract base class AlertWindow</a:t>
            </a:r>
          </a:p>
          <a:p>
            <a:r>
              <a:rPr lang="en-US" sz="1100" noProof="1"/>
              <a:t>Code for the drawing of invidual objects within an AlertWindow (buttons, combo, text editor...)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ADBD5F-F551-7BC1-B9A7-97D9944987C2}"/>
              </a:ext>
            </a:extLst>
          </p:cNvPr>
          <p:cNvSpPr txBox="1"/>
          <p:nvPr/>
        </p:nvSpPr>
        <p:spPr>
          <a:xfrm>
            <a:off x="5158720" y="2117483"/>
            <a:ext cx="1798340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Declarations for the above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2BE9BB-880E-1404-4C68-D6D30A8168FC}"/>
              </a:ext>
            </a:extLst>
          </p:cNvPr>
          <p:cNvSpPr txBox="1"/>
          <p:nvPr/>
        </p:nvSpPr>
        <p:spPr>
          <a:xfrm>
            <a:off x="7291381" y="2081681"/>
            <a:ext cx="5152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Colors are set by V4 scheme but where is this applied when changed in the GUI?</a:t>
            </a:r>
            <a:br>
              <a:rPr lang="en-US" sz="1200" dirty="0">
                <a:solidFill>
                  <a:srgbClr val="C00000"/>
                </a:solidFill>
              </a:rPr>
            </a:br>
            <a:r>
              <a:rPr lang="en-US" sz="1200" dirty="0">
                <a:solidFill>
                  <a:srgbClr val="C00000"/>
                </a:solidFill>
              </a:rPr>
              <a:t>Create new “legacy” scheme? OR force legacy colors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BE9BB-880E-1404-4C68-D6D30A8168FC}"/>
              </a:ext>
            </a:extLst>
          </p:cNvPr>
          <p:cNvSpPr txBox="1"/>
          <p:nvPr/>
        </p:nvSpPr>
        <p:spPr>
          <a:xfrm>
            <a:off x="2223896" y="68420"/>
            <a:ext cx="925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!! In </a:t>
            </a:r>
            <a:r>
              <a:rPr lang="en-US" sz="1200" i="1" dirty="0">
                <a:solidFill>
                  <a:srgbClr val="C00000"/>
                </a:solidFill>
              </a:rPr>
              <a:t>Juce_LookAndFeel_V2.h  </a:t>
            </a:r>
            <a:r>
              <a:rPr lang="en-US" sz="1200" dirty="0">
                <a:solidFill>
                  <a:srgbClr val="C00000"/>
                </a:solidFill>
              </a:rPr>
              <a:t>and in </a:t>
            </a:r>
            <a:r>
              <a:rPr lang="en-US" sz="1200" i="1" dirty="0">
                <a:solidFill>
                  <a:srgbClr val="C00000"/>
                </a:solidFill>
              </a:rPr>
              <a:t>Juce_LookAndFeel_V2.cpp, there is </a:t>
            </a:r>
            <a:r>
              <a:rPr lang="en-US" sz="1200" dirty="0">
                <a:solidFill>
                  <a:srgbClr val="C00000"/>
                </a:solidFill>
              </a:rPr>
              <a:t>LookAndFeel_V2::</a:t>
            </a:r>
            <a:r>
              <a:rPr lang="en-US" sz="1200" dirty="0" err="1">
                <a:solidFill>
                  <a:srgbClr val="C00000"/>
                </a:solidFill>
              </a:rPr>
              <a:t>createAlertWindow</a:t>
            </a:r>
            <a:r>
              <a:rPr lang="en-US" sz="1200" dirty="0">
                <a:solidFill>
                  <a:srgbClr val="C00000"/>
                </a:solidFill>
              </a:rPr>
              <a:t> and LookAndFeel_V2:: </a:t>
            </a:r>
            <a:r>
              <a:rPr lang="en-US" sz="1200" dirty="0" err="1">
                <a:solidFill>
                  <a:srgbClr val="C00000"/>
                </a:solidFill>
              </a:rPr>
              <a:t>drawAlertBox</a:t>
            </a:r>
            <a:r>
              <a:rPr lang="en-US" sz="1200" dirty="0">
                <a:solidFill>
                  <a:srgbClr val="C00000"/>
                </a:solidFill>
              </a:rPr>
              <a:t> with the correct colors</a:t>
            </a:r>
            <a:br>
              <a:rPr lang="en-US" sz="1200" i="1" dirty="0">
                <a:solidFill>
                  <a:srgbClr val="C00000"/>
                </a:solidFill>
              </a:rPr>
            </a:br>
            <a:r>
              <a:rPr lang="en-US" sz="1200" dirty="0">
                <a:solidFill>
                  <a:srgbClr val="C00000"/>
                </a:solidFill>
              </a:rPr>
              <a:t>In </a:t>
            </a:r>
            <a:r>
              <a:rPr lang="en-US" sz="1200" i="1" dirty="0">
                <a:solidFill>
                  <a:srgbClr val="C00000"/>
                </a:solidFill>
              </a:rPr>
              <a:t>Juce_LookAndFeel_V4.cpp, </a:t>
            </a:r>
            <a:r>
              <a:rPr lang="en-US" sz="1200" dirty="0">
                <a:solidFill>
                  <a:srgbClr val="C00000"/>
                </a:solidFill>
              </a:rPr>
              <a:t>LookAndFeel_V2::</a:t>
            </a:r>
            <a:r>
              <a:rPr lang="en-US" sz="1200" dirty="0" err="1">
                <a:solidFill>
                  <a:srgbClr val="C00000"/>
                </a:solidFill>
              </a:rPr>
              <a:t>createAlertWindow</a:t>
            </a:r>
            <a:r>
              <a:rPr lang="en-US" sz="1200" dirty="0">
                <a:solidFill>
                  <a:srgbClr val="C00000"/>
                </a:solidFill>
              </a:rPr>
              <a:t> seems to refer to LookAndFeel_V4::</a:t>
            </a:r>
            <a:r>
              <a:rPr lang="en-US" sz="1200" dirty="0" err="1">
                <a:solidFill>
                  <a:srgbClr val="C00000"/>
                </a:solidFill>
              </a:rPr>
              <a:t>createAlertWindow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2BE9BB-880E-1404-4C68-D6D30A8168FC}"/>
              </a:ext>
            </a:extLst>
          </p:cNvPr>
          <p:cNvSpPr txBox="1"/>
          <p:nvPr/>
        </p:nvSpPr>
        <p:spPr>
          <a:xfrm>
            <a:off x="9371890" y="6359823"/>
            <a:ext cx="2166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Changed to </a:t>
            </a:r>
            <a:r>
              <a:rPr lang="en-US" sz="1200" dirty="0" err="1">
                <a:solidFill>
                  <a:srgbClr val="C00000"/>
                </a:solidFill>
              </a:rPr>
              <a:t>windowBackground</a:t>
            </a:r>
            <a:endParaRPr lang="en-US" sz="1200" dirty="0">
              <a:solidFill>
                <a:srgbClr val="C00000"/>
              </a:solidFill>
            </a:endParaRPr>
          </a:p>
        </p:txBody>
      </p:sp>
      <p:cxnSp>
        <p:nvCxnSpPr>
          <p:cNvPr id="12" name="Straight Arrow Connector 11"/>
          <p:cNvCxnSpPr>
            <a:stCxn id="28" idx="0"/>
          </p:cNvCxnSpPr>
          <p:nvPr/>
        </p:nvCxnSpPr>
        <p:spPr>
          <a:xfrm flipV="1">
            <a:off x="10455168" y="4218621"/>
            <a:ext cx="346182" cy="21412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Folded Corner 2">
            <a:extLst>
              <a:ext uri="{FF2B5EF4-FFF2-40B4-BE49-F238E27FC236}">
                <a16:creationId xmlns:a16="http://schemas.microsoft.com/office/drawing/2014/main" id="{2F0CCEC3-21A5-F92D-FBFE-C830549559F9}"/>
              </a:ext>
            </a:extLst>
          </p:cNvPr>
          <p:cNvSpPr/>
          <p:nvPr/>
        </p:nvSpPr>
        <p:spPr>
          <a:xfrm>
            <a:off x="643812" y="854200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F9DB6C-D32F-01F4-71C2-22CABA02546C}"/>
              </a:ext>
            </a:extLst>
          </p:cNvPr>
          <p:cNvSpPr txBox="1"/>
          <p:nvPr/>
        </p:nvSpPr>
        <p:spPr>
          <a:xfrm>
            <a:off x="858416" y="863354"/>
            <a:ext cx="2026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CtrlrLuaUtils.cpp </a:t>
            </a:r>
            <a:r>
              <a:rPr lang="en-US" sz="1100" dirty="0"/>
              <a:t>in Source – Lua</a:t>
            </a:r>
          </a:p>
        </p:txBody>
      </p:sp>
      <p:sp>
        <p:nvSpPr>
          <p:cNvPr id="31" name="Arrow: Down 6">
            <a:extLst>
              <a:ext uri="{FF2B5EF4-FFF2-40B4-BE49-F238E27FC236}">
                <a16:creationId xmlns:a16="http://schemas.microsoft.com/office/drawing/2014/main" id="{D09E19D5-BF03-CBC0-F5AB-98A63E2545BB}"/>
              </a:ext>
            </a:extLst>
          </p:cNvPr>
          <p:cNvSpPr/>
          <p:nvPr/>
        </p:nvSpPr>
        <p:spPr>
          <a:xfrm rot="10800000">
            <a:off x="1787430" y="1163577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FB9210-4A5B-F8C0-AC5B-09559067D741}"/>
              </a:ext>
            </a:extLst>
          </p:cNvPr>
          <p:cNvSpPr txBox="1"/>
          <p:nvPr/>
        </p:nvSpPr>
        <p:spPr>
          <a:xfrm>
            <a:off x="5158719" y="778715"/>
            <a:ext cx="626207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The 4 types of AlertWindows available in Ctrlr (question, warning, info, askForTextInput)</a:t>
            </a:r>
          </a:p>
        </p:txBody>
      </p:sp>
    </p:spTree>
    <p:extLst>
      <p:ext uri="{BB962C8B-B14F-4D97-AF65-F5344CB8AC3E}">
        <p14:creationId xmlns:p14="http://schemas.microsoft.com/office/powerpoint/2010/main" val="142526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EAFA-CDD2-049A-1195-3B485301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CE08E-D5E7-F2B8-7809-3167008B2328}"/>
              </a:ext>
            </a:extLst>
          </p:cNvPr>
          <p:cNvSpPr txBox="1"/>
          <p:nvPr/>
        </p:nvSpPr>
        <p:spPr>
          <a:xfrm>
            <a:off x="550506" y="335902"/>
            <a:ext cx="1318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Panel editor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52EBC1B3-A6EE-3933-AF67-467ACF942355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858416" y="895562"/>
            <a:ext cx="21034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CtrlrPanel.cpp </a:t>
            </a:r>
            <a:r>
              <a:rPr lang="en-US" sz="1100" dirty="0"/>
              <a:t>in Core - </a:t>
            </a:r>
            <a:r>
              <a:rPr lang="en-US" sz="1100" dirty="0" err="1"/>
              <a:t>CtrlrPanel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DBD5F-F551-7BC1-B9A7-97D9944987C2}"/>
              </a:ext>
            </a:extLst>
          </p:cNvPr>
          <p:cNvSpPr txBox="1"/>
          <p:nvPr/>
        </p:nvSpPr>
        <p:spPr>
          <a:xfrm>
            <a:off x="3558519" y="895562"/>
            <a:ext cx="2344259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Initialization of panel properties (panel including Midi settings) </a:t>
            </a:r>
          </a:p>
        </p:txBody>
      </p:sp>
      <p:sp>
        <p:nvSpPr>
          <p:cNvPr id="6" name="Rectangle: Folded Corner 2">
            <a:extLst>
              <a:ext uri="{FF2B5EF4-FFF2-40B4-BE49-F238E27FC236}">
                <a16:creationId xmlns:a16="http://schemas.microsoft.com/office/drawing/2014/main" id="{52EBC1B3-A6EE-3933-AF67-467ACF942355}"/>
              </a:ext>
            </a:extLst>
          </p:cNvPr>
          <p:cNvSpPr/>
          <p:nvPr/>
        </p:nvSpPr>
        <p:spPr>
          <a:xfrm>
            <a:off x="643812" y="228092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858416" y="2290082"/>
            <a:ext cx="3212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CtrlrPanelProperties.cpp </a:t>
            </a:r>
            <a:r>
              <a:rPr lang="en-US" sz="1100" dirty="0"/>
              <a:t>in </a:t>
            </a:r>
            <a:r>
              <a:rPr lang="en-US" sz="1100" dirty="0" err="1"/>
              <a:t>UIComponent</a:t>
            </a:r>
            <a:r>
              <a:rPr lang="en-US" sz="1100" dirty="0"/>
              <a:t> - </a:t>
            </a:r>
            <a:r>
              <a:rPr lang="en-US" sz="1100" dirty="0" err="1"/>
              <a:t>CtrlrPanel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DBD5F-F551-7BC1-B9A7-97D9944987C2}"/>
              </a:ext>
            </a:extLst>
          </p:cNvPr>
          <p:cNvSpPr txBox="1"/>
          <p:nvPr/>
        </p:nvSpPr>
        <p:spPr>
          <a:xfrm>
            <a:off x="4225269" y="2280928"/>
            <a:ext cx="2877660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Right vertical tabs (General, Resources, Utility)</a:t>
            </a:r>
          </a:p>
        </p:txBody>
      </p:sp>
      <p:sp>
        <p:nvSpPr>
          <p:cNvPr id="9" name="Rectangle: Folded Corner 2">
            <a:extLst>
              <a:ext uri="{FF2B5EF4-FFF2-40B4-BE49-F238E27FC236}">
                <a16:creationId xmlns:a16="http://schemas.microsoft.com/office/drawing/2014/main" id="{52EBC1B3-A6EE-3933-AF67-467ACF942355}"/>
              </a:ext>
            </a:extLst>
          </p:cNvPr>
          <p:cNvSpPr/>
          <p:nvPr/>
        </p:nvSpPr>
        <p:spPr>
          <a:xfrm>
            <a:off x="4770639" y="3429371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4985243" y="3438525"/>
            <a:ext cx="34900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CtrlrPanelResourceEditor.cpp </a:t>
            </a:r>
            <a:r>
              <a:rPr lang="en-US" sz="1100" dirty="0"/>
              <a:t>in </a:t>
            </a:r>
            <a:r>
              <a:rPr lang="en-US" sz="1100" dirty="0" err="1"/>
              <a:t>UIComponent</a:t>
            </a:r>
            <a:r>
              <a:rPr lang="en-US" sz="1100" dirty="0"/>
              <a:t> - </a:t>
            </a:r>
            <a:r>
              <a:rPr lang="en-US" sz="1100" dirty="0" err="1"/>
              <a:t>CtrlrPanel</a:t>
            </a:r>
            <a:endParaRPr lang="en-US" sz="1100" dirty="0"/>
          </a:p>
        </p:txBody>
      </p:sp>
      <p:sp>
        <p:nvSpPr>
          <p:cNvPr id="11" name="Rectangle: Folded Corner 2">
            <a:extLst>
              <a:ext uri="{FF2B5EF4-FFF2-40B4-BE49-F238E27FC236}">
                <a16:creationId xmlns:a16="http://schemas.microsoft.com/office/drawing/2014/main" id="{52EBC1B3-A6EE-3933-AF67-467ACF942355}"/>
              </a:ext>
            </a:extLst>
          </p:cNvPr>
          <p:cNvSpPr/>
          <p:nvPr/>
        </p:nvSpPr>
        <p:spPr>
          <a:xfrm>
            <a:off x="8595044" y="3438526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8809648" y="3447680"/>
            <a:ext cx="30652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CtrlrPanelUtilities.cpp </a:t>
            </a:r>
            <a:r>
              <a:rPr lang="en-US" sz="1100" dirty="0"/>
              <a:t>in </a:t>
            </a:r>
            <a:r>
              <a:rPr lang="en-US" sz="1100" dirty="0" err="1"/>
              <a:t>UIComponent</a:t>
            </a:r>
            <a:r>
              <a:rPr lang="en-US" sz="1100" dirty="0"/>
              <a:t> - </a:t>
            </a:r>
            <a:r>
              <a:rPr lang="en-US" sz="1100" dirty="0" err="1"/>
              <a:t>CtrlrPanel</a:t>
            </a:r>
            <a:endParaRPr lang="en-US" sz="1100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237514" y="2636270"/>
            <a:ext cx="0" cy="7305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6882493" y="2654542"/>
            <a:ext cx="1560152" cy="6939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Folded Corner 2">
            <a:extLst>
              <a:ext uri="{FF2B5EF4-FFF2-40B4-BE49-F238E27FC236}">
                <a16:creationId xmlns:a16="http://schemas.microsoft.com/office/drawing/2014/main" id="{52EBC1B3-A6EE-3933-AF67-467ACF942355}"/>
              </a:ext>
            </a:extLst>
          </p:cNvPr>
          <p:cNvSpPr/>
          <p:nvPr/>
        </p:nvSpPr>
        <p:spPr>
          <a:xfrm>
            <a:off x="643812" y="3420217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858416" y="3429371"/>
            <a:ext cx="3873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CtrlrPanelComponentProperties.cpp </a:t>
            </a:r>
            <a:r>
              <a:rPr lang="en-US" sz="1100" dirty="0"/>
              <a:t>in </a:t>
            </a:r>
            <a:r>
              <a:rPr lang="en-US" sz="1100" dirty="0" err="1"/>
              <a:t>UIComponent</a:t>
            </a:r>
            <a:r>
              <a:rPr lang="en-US" sz="1100" dirty="0"/>
              <a:t> - </a:t>
            </a:r>
            <a:r>
              <a:rPr lang="en-US" sz="1100" dirty="0" err="1"/>
              <a:t>CtrlrPanel</a:t>
            </a:r>
            <a:endParaRPr lang="en-US" sz="1100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3020786" y="2636270"/>
            <a:ext cx="2310493" cy="7305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EADBD5F-F551-7BC1-B9A7-97D9944987C2}"/>
              </a:ext>
            </a:extLst>
          </p:cNvPr>
          <p:cNvSpPr txBox="1"/>
          <p:nvPr/>
        </p:nvSpPr>
        <p:spPr>
          <a:xfrm>
            <a:off x="643812" y="3951885"/>
            <a:ext cx="2121093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Fill the content of the General tab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ADBD5F-F551-7BC1-B9A7-97D9944987C2}"/>
              </a:ext>
            </a:extLst>
          </p:cNvPr>
          <p:cNvSpPr txBox="1"/>
          <p:nvPr/>
        </p:nvSpPr>
        <p:spPr>
          <a:xfrm>
            <a:off x="4770639" y="3951885"/>
            <a:ext cx="2250937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Fill the content of the Resources tab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ADBD5F-F551-7BC1-B9A7-97D9944987C2}"/>
              </a:ext>
            </a:extLst>
          </p:cNvPr>
          <p:cNvSpPr txBox="1"/>
          <p:nvPr/>
        </p:nvSpPr>
        <p:spPr>
          <a:xfrm>
            <a:off x="8595044" y="3951885"/>
            <a:ext cx="2010487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Fill the content of the Utility tab</a:t>
            </a:r>
          </a:p>
        </p:txBody>
      </p:sp>
      <p:sp>
        <p:nvSpPr>
          <p:cNvPr id="29" name="Rectangle: Folded Corner 2">
            <a:extLst>
              <a:ext uri="{FF2B5EF4-FFF2-40B4-BE49-F238E27FC236}">
                <a16:creationId xmlns:a16="http://schemas.microsoft.com/office/drawing/2014/main" id="{52EBC1B3-A6EE-3933-AF67-467ACF942355}"/>
              </a:ext>
            </a:extLst>
          </p:cNvPr>
          <p:cNvSpPr/>
          <p:nvPr/>
        </p:nvSpPr>
        <p:spPr>
          <a:xfrm>
            <a:off x="643811" y="1584243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BCB8C7-314A-570B-0AB4-DCA7C4B7B160}"/>
              </a:ext>
            </a:extLst>
          </p:cNvPr>
          <p:cNvSpPr txBox="1"/>
          <p:nvPr/>
        </p:nvSpPr>
        <p:spPr>
          <a:xfrm>
            <a:off x="858415" y="1593397"/>
            <a:ext cx="40302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CtrlrDocumentPanel.cpp </a:t>
            </a:r>
            <a:r>
              <a:rPr lang="en-US" sz="1100" dirty="0"/>
              <a:t>in </a:t>
            </a:r>
            <a:r>
              <a:rPr lang="en-US" sz="1100" dirty="0" err="1"/>
              <a:t>UIComponent</a:t>
            </a:r>
            <a:r>
              <a:rPr lang="en-US" sz="1100" dirty="0"/>
              <a:t> - </a:t>
            </a:r>
            <a:r>
              <a:rPr lang="en-US" sz="1100" dirty="0" err="1"/>
              <a:t>CtrlrApplicationWindow</a:t>
            </a:r>
            <a:endParaRPr 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DBD5F-F551-7BC1-B9A7-97D9944987C2}"/>
              </a:ext>
            </a:extLst>
          </p:cNvPr>
          <p:cNvSpPr txBox="1"/>
          <p:nvPr/>
        </p:nvSpPr>
        <p:spPr>
          <a:xfrm>
            <a:off x="4985243" y="1584243"/>
            <a:ext cx="2877660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Panel …</a:t>
            </a:r>
          </a:p>
        </p:txBody>
      </p:sp>
    </p:spTree>
    <p:extLst>
      <p:ext uri="{BB962C8B-B14F-4D97-AF65-F5344CB8AC3E}">
        <p14:creationId xmlns:p14="http://schemas.microsoft.com/office/powerpoint/2010/main" val="1080984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B539CD-C74B-1F9E-D839-77A060D08F3D}"/>
              </a:ext>
            </a:extLst>
          </p:cNvPr>
          <p:cNvSpPr txBox="1"/>
          <p:nvPr/>
        </p:nvSpPr>
        <p:spPr>
          <a:xfrm>
            <a:off x="550506" y="335902"/>
            <a:ext cx="20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All object properties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04E7AE66-B5DB-564A-8CD4-1AAAD8423438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3E327-877E-7395-7A86-FDD9DE103876}"/>
              </a:ext>
            </a:extLst>
          </p:cNvPr>
          <p:cNvSpPr txBox="1"/>
          <p:nvPr/>
        </p:nvSpPr>
        <p:spPr>
          <a:xfrm>
            <a:off x="858416" y="895562"/>
            <a:ext cx="19639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CtrlrIDs.xml </a:t>
            </a:r>
            <a:r>
              <a:rPr lang="en-US" sz="1100" noProof="1"/>
              <a:t>in Resources - XML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53F22-90DF-6C3C-8E53-2988B3844390}"/>
              </a:ext>
            </a:extLst>
          </p:cNvPr>
          <p:cNvSpPr txBox="1"/>
          <p:nvPr/>
        </p:nvSpPr>
        <p:spPr>
          <a:xfrm>
            <a:off x="550506" y="1347500"/>
            <a:ext cx="5277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name</a:t>
            </a:r>
          </a:p>
          <a:p>
            <a:r>
              <a:rPr lang="en-US" sz="1100" noProof="1"/>
              <a:t>text</a:t>
            </a:r>
          </a:p>
          <a:p>
            <a:r>
              <a:rPr lang="en-US" sz="1100" noProof="1"/>
              <a:t>type</a:t>
            </a:r>
          </a:p>
          <a:p>
            <a:r>
              <a:rPr lang="en-US" sz="1100" noProof="1"/>
              <a:t>...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78951-890E-68A0-8C2C-9AEF29812715}"/>
              </a:ext>
            </a:extLst>
          </p:cNvPr>
          <p:cNvSpPr txBox="1"/>
          <p:nvPr/>
        </p:nvSpPr>
        <p:spPr>
          <a:xfrm>
            <a:off x="550506" y="2691565"/>
            <a:ext cx="2953053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1"/>
              <a:t>type</a:t>
            </a:r>
          </a:p>
          <a:p>
            <a:r>
              <a:rPr lang="en-US" sz="1100" noProof="1"/>
              <a:t>ReadOnly: modulatorValue</a:t>
            </a:r>
          </a:p>
          <a:p>
            <a:r>
              <a:rPr lang="en-US" sz="1100" noProof="1"/>
              <a:t>Bool: modulatorMute</a:t>
            </a:r>
          </a:p>
          <a:p>
            <a:r>
              <a:rPr lang="en-US" sz="1100" noProof="1"/>
              <a:t>Text: panelVendor</a:t>
            </a:r>
          </a:p>
          <a:p>
            <a:r>
              <a:rPr lang="en-US" sz="1100" noProof="1"/>
              <a:t>VarText: panelMidiInputDevice (list)</a:t>
            </a:r>
          </a:p>
          <a:p>
            <a:r>
              <a:rPr lang="en-US" sz="1100" noProof="1"/>
              <a:t>Numeric: panelVersionMajor</a:t>
            </a:r>
          </a:p>
          <a:p>
            <a:r>
              <a:rPr lang="en-US" sz="1100" noProof="1"/>
              <a:t>VarNumeric: panelMidiInputChannelDevice (list)</a:t>
            </a:r>
          </a:p>
          <a:p>
            <a:r>
              <a:rPr lang="en-US" sz="1100" noProof="1"/>
              <a:t>Colour: uiPanelTooltipColour</a:t>
            </a:r>
          </a:p>
          <a:p>
            <a:r>
              <a:rPr lang="en-US" sz="1100" noProof="1"/>
              <a:t>Font: uiPanelTooltipFont</a:t>
            </a:r>
          </a:p>
          <a:p>
            <a:r>
              <a:rPr lang="en-US" sz="1100" noProof="1"/>
              <a:t>MultiLineSmall:</a:t>
            </a:r>
          </a:p>
          <a:p>
            <a:r>
              <a:rPr lang="en-US" sz="1100" noProof="1"/>
              <a:t>MultiLine: uiListBoxContent</a:t>
            </a:r>
          </a:p>
          <a:p>
            <a:r>
              <a:rPr lang="en-US" sz="1100" noProof="1"/>
              <a:t>LuaMethod: componentLuaMouseDown</a:t>
            </a:r>
          </a:p>
          <a:p>
            <a:r>
              <a:rPr lang="en-US" sz="1100" noProof="1"/>
              <a:t>Sysex:</a:t>
            </a:r>
            <a:br>
              <a:rPr lang="en-US" sz="1100" noProof="1"/>
            </a:br>
            <a:r>
              <a:rPr lang="en-US" sz="1100" noProof="1"/>
              <a:t>ActionButton:</a:t>
            </a:r>
          </a:p>
          <a:p>
            <a:r>
              <a:rPr lang="en-US" sz="1100" noProof="1"/>
              <a:t>Timestamp:</a:t>
            </a:r>
          </a:p>
          <a:p>
            <a:r>
              <a:rPr lang="en-US" sz="1100" noProof="1"/>
              <a:t>ModulatorList:</a:t>
            </a:r>
          </a:p>
          <a:p>
            <a:r>
              <a:rPr lang="en-US" sz="1100" noProof="1"/>
              <a:t>MultiMidi:</a:t>
            </a:r>
          </a:p>
          <a:p>
            <a:r>
              <a:rPr lang="en-US" sz="1100" noProof="1"/>
              <a:t>Expression:</a:t>
            </a:r>
          </a:p>
          <a:p>
            <a:r>
              <a:rPr lang="en-US" sz="1100" noProof="1"/>
              <a:t>FileProperty:</a:t>
            </a:r>
          </a:p>
          <a:p>
            <a:r>
              <a:rPr lang="en-US" sz="1100" noProof="1"/>
              <a:t>UnkownProperty:</a:t>
            </a:r>
          </a:p>
          <a:p>
            <a:endParaRPr lang="en-US" sz="1100" noProof="1"/>
          </a:p>
          <a:p>
            <a:endParaRPr lang="en-US" sz="1100" noProof="1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44FF2919-83AF-DE82-3B8D-0778DEB2D056}"/>
              </a:ext>
            </a:extLst>
          </p:cNvPr>
          <p:cNvSpPr/>
          <p:nvPr/>
        </p:nvSpPr>
        <p:spPr>
          <a:xfrm>
            <a:off x="643812" y="2307269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C73FF-63D6-EAD3-5C1C-A34EB11321C3}"/>
              </a:ext>
            </a:extLst>
          </p:cNvPr>
          <p:cNvSpPr txBox="1"/>
          <p:nvPr/>
        </p:nvSpPr>
        <p:spPr>
          <a:xfrm>
            <a:off x="858416" y="2316423"/>
            <a:ext cx="16257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CtrlrIDManager.h </a:t>
            </a:r>
            <a:r>
              <a:rPr lang="en-US" sz="1100" noProof="1"/>
              <a:t>in Core</a:t>
            </a: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68CB3551-568B-DA44-BC1C-8DFBC3DDF1EE}"/>
              </a:ext>
            </a:extLst>
          </p:cNvPr>
          <p:cNvSpPr/>
          <p:nvPr/>
        </p:nvSpPr>
        <p:spPr>
          <a:xfrm>
            <a:off x="3865984" y="2298115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2EFA46-8D8A-A300-256B-B7AFA0095F95}"/>
              </a:ext>
            </a:extLst>
          </p:cNvPr>
          <p:cNvSpPr txBox="1"/>
          <p:nvPr/>
        </p:nvSpPr>
        <p:spPr>
          <a:xfrm>
            <a:off x="4080588" y="2307269"/>
            <a:ext cx="17572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CtrlrIDManager.cpp </a:t>
            </a:r>
            <a:r>
              <a:rPr lang="en-US" sz="1100" noProof="1"/>
              <a:t>in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95AC0-13B4-C476-D8DC-F23D9F9C1C47}"/>
              </a:ext>
            </a:extLst>
          </p:cNvPr>
          <p:cNvSpPr txBox="1"/>
          <p:nvPr/>
        </p:nvSpPr>
        <p:spPr>
          <a:xfrm>
            <a:off x="3865984" y="2691565"/>
            <a:ext cx="3350597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Load properties from </a:t>
            </a:r>
            <a:r>
              <a:rPr lang="en-US" sz="1100" i="1" noProof="1"/>
              <a:t>CtrlrIDs.xml </a:t>
            </a:r>
            <a:r>
              <a:rPr lang="en-US" sz="1100" noProof="1"/>
              <a:t>in different ValueTree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78546D-9F10-263D-C605-0C2CA2B007E2}"/>
              </a:ext>
            </a:extLst>
          </p:cNvPr>
          <p:cNvSpPr txBox="1"/>
          <p:nvPr/>
        </p:nvSpPr>
        <p:spPr>
          <a:xfrm>
            <a:off x="1247192" y="1326075"/>
            <a:ext cx="1747935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Definitions of all properties and their type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1F13246-8D55-628E-8E07-A951792513CB}"/>
              </a:ext>
            </a:extLst>
          </p:cNvPr>
          <p:cNvSpPr/>
          <p:nvPr/>
        </p:nvSpPr>
        <p:spPr>
          <a:xfrm rot="10800000">
            <a:off x="1345120" y="1948637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C763A8-4110-6FD6-558B-95BF9323BF58}"/>
              </a:ext>
            </a:extLst>
          </p:cNvPr>
          <p:cNvSpPr txBox="1"/>
          <p:nvPr/>
        </p:nvSpPr>
        <p:spPr>
          <a:xfrm>
            <a:off x="3828348" y="3066706"/>
            <a:ext cx="821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>
                <a:solidFill>
                  <a:srgbClr val="C00000"/>
                </a:solidFill>
              </a:rPr>
              <a:t>Called by?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FF7B541B-B35D-1E4D-EEE1-512CFFAA9281}"/>
              </a:ext>
            </a:extLst>
          </p:cNvPr>
          <p:cNvSpPr/>
          <p:nvPr/>
        </p:nvSpPr>
        <p:spPr>
          <a:xfrm>
            <a:off x="3865984" y="877253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D45B93-3DDB-3BBB-B2A7-1C0A7784AFE6}"/>
              </a:ext>
            </a:extLst>
          </p:cNvPr>
          <p:cNvSpPr txBox="1"/>
          <p:nvPr/>
        </p:nvSpPr>
        <p:spPr>
          <a:xfrm>
            <a:off x="4080588" y="886407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CtrlrIDs.h </a:t>
            </a:r>
            <a:r>
              <a:rPr lang="en-US" sz="1100" noProof="1"/>
              <a:t>in Core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6C18FED-E1B3-1132-8E46-BDD35B915A9C}"/>
              </a:ext>
            </a:extLst>
          </p:cNvPr>
          <p:cNvSpPr/>
          <p:nvPr/>
        </p:nvSpPr>
        <p:spPr>
          <a:xfrm rot="5400000">
            <a:off x="3383774" y="866233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B00A8D-CBAA-ED5A-9895-CA6BF77A7338}"/>
              </a:ext>
            </a:extLst>
          </p:cNvPr>
          <p:cNvSpPr txBox="1"/>
          <p:nvPr/>
        </p:nvSpPr>
        <p:spPr>
          <a:xfrm>
            <a:off x="3865984" y="1326075"/>
            <a:ext cx="2238113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DECLARE_ID (</a:t>
            </a:r>
            <a:r>
              <a:rPr lang="en-US" sz="1100" i="1" noProof="1"/>
              <a:t>each_property_name</a:t>
            </a:r>
            <a:r>
              <a:rPr lang="en-US" sz="1100" noProof="1"/>
              <a:t>)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A9240A9-1F61-9906-BB30-F872049BD62B}"/>
              </a:ext>
            </a:extLst>
          </p:cNvPr>
          <p:cNvSpPr/>
          <p:nvPr/>
        </p:nvSpPr>
        <p:spPr>
          <a:xfrm rot="18626515">
            <a:off x="3284393" y="1991295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E1570AF6-82D2-0F10-A5C9-2CF5620E8E81}"/>
              </a:ext>
            </a:extLst>
          </p:cNvPr>
          <p:cNvSpPr/>
          <p:nvPr/>
        </p:nvSpPr>
        <p:spPr>
          <a:xfrm>
            <a:off x="7666653" y="195943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AFA88-8BE7-ABF8-E40D-8D32A639A4C4}"/>
              </a:ext>
            </a:extLst>
          </p:cNvPr>
          <p:cNvSpPr txBox="1"/>
          <p:nvPr/>
        </p:nvSpPr>
        <p:spPr>
          <a:xfrm>
            <a:off x="7881257" y="205097"/>
            <a:ext cx="39725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CtrlrPropertyComponent.h </a:t>
            </a:r>
            <a:r>
              <a:rPr lang="en-US" sz="1100" noProof="1"/>
              <a:t>in UIComponents - CtrlrPropertyEditors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A36F59E0-DE31-8CC8-FBAF-F41DD0F67F92}"/>
              </a:ext>
            </a:extLst>
          </p:cNvPr>
          <p:cNvSpPr/>
          <p:nvPr/>
        </p:nvSpPr>
        <p:spPr>
          <a:xfrm>
            <a:off x="7666653" y="1598495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857D55-5F17-0A0D-CC10-E0D079E96BE0}"/>
              </a:ext>
            </a:extLst>
          </p:cNvPr>
          <p:cNvSpPr txBox="1"/>
          <p:nvPr/>
        </p:nvSpPr>
        <p:spPr>
          <a:xfrm>
            <a:off x="7881257" y="1607649"/>
            <a:ext cx="4104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CtrlrPropertyComponent.cpp </a:t>
            </a:r>
            <a:r>
              <a:rPr lang="en-US" sz="1100" noProof="1"/>
              <a:t>in UIComponents - CtrlrPropertyEditors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14D2A6-96F1-1BB6-75C2-FB97B0218A5D}"/>
              </a:ext>
            </a:extLst>
          </p:cNvPr>
          <p:cNvSpPr txBox="1"/>
          <p:nvPr/>
        </p:nvSpPr>
        <p:spPr>
          <a:xfrm>
            <a:off x="10025725" y="626455"/>
            <a:ext cx="1693523" cy="600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Definitions of all Property components types visible in the Property 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7F0F62-8394-C12C-C756-489D3314AD2C}"/>
              </a:ext>
            </a:extLst>
          </p:cNvPr>
          <p:cNvSpPr txBox="1"/>
          <p:nvPr/>
        </p:nvSpPr>
        <p:spPr>
          <a:xfrm>
            <a:off x="7570863" y="553899"/>
            <a:ext cx="207941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CtrlrBooleanPropertyComponent</a:t>
            </a:r>
          </a:p>
          <a:p>
            <a:r>
              <a:rPr lang="en-US" sz="1100" noProof="1"/>
              <a:t>CtrlrColourEditorComponent</a:t>
            </a:r>
          </a:p>
          <a:p>
            <a:r>
              <a:rPr lang="en-US" sz="1100" noProof="1"/>
              <a:t>CtrlrExpressionProperty</a:t>
            </a:r>
          </a:p>
          <a:p>
            <a:r>
              <a:rPr lang="en-US" sz="1100" noProof="1"/>
              <a:t>CtrlrTextPropertyComponent</a:t>
            </a:r>
          </a:p>
          <a:p>
            <a:r>
              <a:rPr lang="en-US" sz="1100" noProof="1"/>
              <a:t>...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6493EF-8AEF-A2CB-5215-47C93F45045D}"/>
              </a:ext>
            </a:extLst>
          </p:cNvPr>
          <p:cNvSpPr txBox="1"/>
          <p:nvPr/>
        </p:nvSpPr>
        <p:spPr>
          <a:xfrm>
            <a:off x="7666653" y="1991945"/>
            <a:ext cx="3108543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Draw and fill-in each property in the Property table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309F9D-9AE4-A66A-F677-138CD258E1ED}"/>
              </a:ext>
            </a:extLst>
          </p:cNvPr>
          <p:cNvSpPr txBox="1"/>
          <p:nvPr/>
        </p:nvSpPr>
        <p:spPr>
          <a:xfrm>
            <a:off x="7666653" y="2367085"/>
            <a:ext cx="821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>
                <a:solidFill>
                  <a:srgbClr val="C00000"/>
                </a:solidFill>
              </a:rPr>
              <a:t>Called by?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F700C7-FE2B-0908-968E-C22CDD21AE1C}"/>
              </a:ext>
            </a:extLst>
          </p:cNvPr>
          <p:cNvSpPr txBox="1"/>
          <p:nvPr/>
        </p:nvSpPr>
        <p:spPr>
          <a:xfrm>
            <a:off x="9526555" y="2384463"/>
            <a:ext cx="2192693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Look and feel of the total Property table and of each property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E374FD-AB83-2F99-4C49-B8F61EBB3E0A}"/>
              </a:ext>
            </a:extLst>
          </p:cNvPr>
          <p:cNvSpPr txBox="1"/>
          <p:nvPr/>
        </p:nvSpPr>
        <p:spPr>
          <a:xfrm>
            <a:off x="7570863" y="2799638"/>
            <a:ext cx="4282956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1"/>
              <a:t>preferredHeight for each property</a:t>
            </a:r>
          </a:p>
          <a:p>
            <a:r>
              <a:rPr lang="en-US" sz="1100" noProof="1"/>
              <a:t>Row 86: visibleText for the labels (name or text), conversion of property type from </a:t>
            </a:r>
            <a:r>
              <a:rPr lang="en-US" sz="1100" i="1" noProof="1"/>
              <a:t>CtrlrIDs.xml </a:t>
            </a:r>
            <a:r>
              <a:rPr lang="en-US" sz="1100" noProof="1"/>
              <a:t>to the below components</a:t>
            </a:r>
          </a:p>
          <a:p>
            <a:endParaRPr lang="en-US" sz="1100" noProof="1"/>
          </a:p>
          <a:p>
            <a:r>
              <a:rPr lang="en-US" sz="1100" noProof="1"/>
              <a:t>Row 240: CtrlrBooleanPropertyComponent</a:t>
            </a:r>
          </a:p>
          <a:p>
            <a:r>
              <a:rPr lang="en-US" sz="1100" noProof="1"/>
              <a:t>Row 288: CtrlrButtonPropertyComponent	</a:t>
            </a:r>
            <a:r>
              <a:rPr lang="en-US" sz="1100" noProof="1">
                <a:solidFill>
                  <a:srgbClr val="C00000"/>
                </a:solidFill>
              </a:rPr>
              <a:t>? Like Add Tab ?</a:t>
            </a:r>
          </a:p>
          <a:p>
            <a:r>
              <a:rPr lang="en-US" sz="1100" noProof="1"/>
              <a:t>Row 314: CtrlrChoicePropertyComponent (combo box </a:t>
            </a:r>
            <a:r>
              <a:rPr lang="en-US" sz="1100" noProof="1">
                <a:solidFill>
                  <a:srgbClr val="C00000"/>
                </a:solidFill>
              </a:rPr>
              <a:t>like ?</a:t>
            </a:r>
            <a:r>
              <a:rPr lang="en-US" sz="1100" noProof="1"/>
              <a:t>)</a:t>
            </a:r>
          </a:p>
          <a:p>
            <a:r>
              <a:rPr lang="en-US" sz="1100" noProof="1"/>
              <a:t>Row 406: CtrlrColourEditorPropertyComponent</a:t>
            </a:r>
          </a:p>
          <a:p>
            <a:r>
              <a:rPr lang="en-US" sz="1100" noProof="1"/>
              <a:t>Row 507: CtrlrReadOnlyProperty</a:t>
            </a:r>
          </a:p>
          <a:p>
            <a:r>
              <a:rPr lang="en-US" sz="1100" noProof="1"/>
              <a:t>Row 534: CtrlrExpressionProperty</a:t>
            </a:r>
          </a:p>
          <a:p>
            <a:r>
              <a:rPr lang="en-US" sz="1100" noProof="1"/>
              <a:t>Row 626: CtrlrFileProperty</a:t>
            </a:r>
          </a:p>
          <a:p>
            <a:r>
              <a:rPr lang="en-US" sz="1100" noProof="1"/>
              <a:t>Row 679: CtrlrFontPropertyComponent</a:t>
            </a:r>
          </a:p>
          <a:p>
            <a:r>
              <a:rPr lang="en-US" sz="1100" noProof="1"/>
              <a:t>Row 846: CtrlrLuaMethodProperty</a:t>
            </a:r>
          </a:p>
          <a:p>
            <a:r>
              <a:rPr lang="en-US" sz="1100" noProof="1"/>
              <a:t>Row 962: CtrlrModulatorListProperty</a:t>
            </a:r>
          </a:p>
          <a:p>
            <a:r>
              <a:rPr lang="en-US" sz="1100" noProof="1"/>
              <a:t>Row 1043: CtrlrMultiMidiPropertyComponent</a:t>
            </a:r>
          </a:p>
          <a:p>
            <a:r>
              <a:rPr lang="en-US" sz="1100" noProof="1"/>
              <a:t>Row 1289: CtrlrSliderPropertyComponent</a:t>
            </a:r>
          </a:p>
          <a:p>
            <a:r>
              <a:rPr lang="en-US" sz="1100" noProof="1"/>
              <a:t>Row 1328: CtrlrSysexEditor</a:t>
            </a:r>
          </a:p>
          <a:p>
            <a:r>
              <a:rPr lang="en-US" sz="1100" noProof="1"/>
              <a:t>Row 1690: CtrlrSysexFormulaEditor</a:t>
            </a:r>
          </a:p>
          <a:p>
            <a:r>
              <a:rPr lang="en-US" sz="1100" noProof="1"/>
              <a:t>Row 1778: CtrlrSysexPropertyComponent</a:t>
            </a:r>
          </a:p>
          <a:p>
            <a:r>
              <a:rPr lang="en-US" sz="1100" noProof="1"/>
              <a:t>Row1896: CtrlrTextPropLabel</a:t>
            </a:r>
          </a:p>
          <a:p>
            <a:r>
              <a:rPr lang="en-US" sz="1100" noProof="1"/>
              <a:t>Row 1940: CtrlrTextPropertyComponent</a:t>
            </a:r>
          </a:p>
          <a:p>
            <a:r>
              <a:rPr lang="en-US" sz="1100" noProof="1"/>
              <a:t>Row 2001: CtrlrTimeStampProperty</a:t>
            </a:r>
          </a:p>
          <a:p>
            <a:r>
              <a:rPr lang="en-US" sz="1100" noProof="1"/>
              <a:t>Row 2026: CtrlrUnknownPropertyComponent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F57188FE-4EFA-8671-56F5-5D71884C8051}"/>
              </a:ext>
            </a:extLst>
          </p:cNvPr>
          <p:cNvSpPr/>
          <p:nvPr/>
        </p:nvSpPr>
        <p:spPr>
          <a:xfrm rot="14329409">
            <a:off x="7096795" y="1986136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B7E6DFD9-C62E-9F53-007D-5DAA7304C843}"/>
              </a:ext>
            </a:extLst>
          </p:cNvPr>
          <p:cNvSpPr/>
          <p:nvPr/>
        </p:nvSpPr>
        <p:spPr>
          <a:xfrm>
            <a:off x="8658322" y="1339612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5E6C83-F014-C25B-1D48-B145EE187C71}"/>
              </a:ext>
            </a:extLst>
          </p:cNvPr>
          <p:cNvSpPr txBox="1"/>
          <p:nvPr/>
        </p:nvSpPr>
        <p:spPr>
          <a:xfrm>
            <a:off x="550505" y="6158404"/>
            <a:ext cx="62701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id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panelVersionMajor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49" charset="0"/>
              </a:rPr>
              <a:t>text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Version MAJOR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Numeric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2048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US" sz="9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58A6E4-F8AB-DED4-AB35-57E34AB521FB}"/>
              </a:ext>
            </a:extLst>
          </p:cNvPr>
          <p:cNvSpPr/>
          <p:nvPr/>
        </p:nvSpPr>
        <p:spPr>
          <a:xfrm>
            <a:off x="3732244" y="6100185"/>
            <a:ext cx="1045028" cy="349590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8230680C-1CF4-25AE-E672-7A2E2F4CC9A1}"/>
              </a:ext>
            </a:extLst>
          </p:cNvPr>
          <p:cNvCxnSpPr>
            <a:stCxn id="36" idx="0"/>
          </p:cNvCxnSpPr>
          <p:nvPr/>
        </p:nvCxnSpPr>
        <p:spPr>
          <a:xfrm rot="5400000" flipH="1" flipV="1">
            <a:off x="4430261" y="2959584"/>
            <a:ext cx="2965099" cy="3316105"/>
          </a:xfrm>
          <a:prstGeom prst="curved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0EFC8EDC-7302-5BBB-0BC3-D241733D9A81}"/>
              </a:ext>
            </a:extLst>
          </p:cNvPr>
          <p:cNvCxnSpPr>
            <a:cxnSpLocks/>
            <a:stCxn id="43" idx="1"/>
            <a:endCxn id="41" idx="1"/>
          </p:cNvCxnSpPr>
          <p:nvPr/>
        </p:nvCxnSpPr>
        <p:spPr>
          <a:xfrm rot="10800000" flipH="1" flipV="1">
            <a:off x="7560749" y="3305868"/>
            <a:ext cx="10113" cy="2152539"/>
          </a:xfrm>
          <a:prstGeom prst="curvedConnector3">
            <a:avLst>
              <a:gd name="adj1" fmla="val -2260457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334B709-2F22-6EA2-45E3-CA584006EA78}"/>
              </a:ext>
            </a:extLst>
          </p:cNvPr>
          <p:cNvSpPr/>
          <p:nvPr/>
        </p:nvSpPr>
        <p:spPr>
          <a:xfrm>
            <a:off x="7570863" y="5309118"/>
            <a:ext cx="426410" cy="298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0DB912-0C35-B520-CB29-E4CBA93190DA}"/>
              </a:ext>
            </a:extLst>
          </p:cNvPr>
          <p:cNvSpPr/>
          <p:nvPr/>
        </p:nvSpPr>
        <p:spPr>
          <a:xfrm>
            <a:off x="7560750" y="3156579"/>
            <a:ext cx="426410" cy="298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BD305012-B4D5-E046-E0D9-F8EF524E5B3B}"/>
              </a:ext>
            </a:extLst>
          </p:cNvPr>
          <p:cNvCxnSpPr>
            <a:cxnSpLocks/>
            <a:stCxn id="7" idx="1"/>
            <a:endCxn id="35" idx="1"/>
          </p:cNvCxnSpPr>
          <p:nvPr/>
        </p:nvCxnSpPr>
        <p:spPr>
          <a:xfrm rot="10800000" flipV="1">
            <a:off x="550506" y="1732220"/>
            <a:ext cx="1" cy="4541599"/>
          </a:xfrm>
          <a:prstGeom prst="curvedConnector3">
            <a:avLst>
              <a:gd name="adj1" fmla="val 22860100000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575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431CAED-F147-7951-F74F-5059806F9D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76"/>
          <a:stretch/>
        </p:blipFill>
        <p:spPr>
          <a:xfrm>
            <a:off x="637563" y="964734"/>
            <a:ext cx="10048824" cy="546962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B4CDD78-8B06-DFA7-355D-6A323A9A638E}"/>
              </a:ext>
            </a:extLst>
          </p:cNvPr>
          <p:cNvSpPr/>
          <p:nvPr/>
        </p:nvSpPr>
        <p:spPr>
          <a:xfrm>
            <a:off x="4764947" y="2592198"/>
            <a:ext cx="7323589" cy="116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1134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Lua editor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9AEEE1-B60C-A425-1A0C-1700D10B2456}"/>
              </a:ext>
            </a:extLst>
          </p:cNvPr>
          <p:cNvSpPr txBox="1"/>
          <p:nvPr/>
        </p:nvSpPr>
        <p:spPr>
          <a:xfrm>
            <a:off x="894855" y="5344402"/>
            <a:ext cx="1747935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methodTree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D61D7-B7D1-02D0-B578-4984DABC8FD4}"/>
              </a:ext>
            </a:extLst>
          </p:cNvPr>
          <p:cNvSpPr txBox="1"/>
          <p:nvPr/>
        </p:nvSpPr>
        <p:spPr>
          <a:xfrm rot="19066782">
            <a:off x="5523138" y="4926351"/>
            <a:ext cx="1747935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methodEditArea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273F2-779C-3548-BC14-74C560E43E9F}"/>
              </a:ext>
            </a:extLst>
          </p:cNvPr>
          <p:cNvSpPr txBox="1"/>
          <p:nvPr/>
        </p:nvSpPr>
        <p:spPr>
          <a:xfrm rot="16200000">
            <a:off x="2063320" y="2424227"/>
            <a:ext cx="1747935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resizer</a:t>
            </a:r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BE75F13C-EE95-C1B9-172D-77A52EB80836}"/>
              </a:ext>
            </a:extLst>
          </p:cNvPr>
          <p:cNvSpPr/>
          <p:nvPr/>
        </p:nvSpPr>
        <p:spPr>
          <a:xfrm>
            <a:off x="2428186" y="397713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4BD2E-13F7-A68E-718A-D953DC7D4298}"/>
              </a:ext>
            </a:extLst>
          </p:cNvPr>
          <p:cNvSpPr txBox="1"/>
          <p:nvPr/>
        </p:nvSpPr>
        <p:spPr>
          <a:xfrm>
            <a:off x="2642790" y="406867"/>
            <a:ext cx="4187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CtrlrLuaMethodEditor.cpp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351FB-04C3-ABDD-3152-538D74287CF1}"/>
              </a:ext>
            </a:extLst>
          </p:cNvPr>
          <p:cNvSpPr txBox="1"/>
          <p:nvPr/>
        </p:nvSpPr>
        <p:spPr>
          <a:xfrm>
            <a:off x="6936573" y="150930"/>
            <a:ext cx="4010348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Draw the Lua Editor with its 3 zones and contains all the functions to manage the methods in the method tree (menu bar, create, delete, drag and drop...) and the tabs of the different methods 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823510AD-A1DD-FF92-6FEB-98AA64AA5A40}"/>
              </a:ext>
            </a:extLst>
          </p:cNvPr>
          <p:cNvSpPr/>
          <p:nvPr/>
        </p:nvSpPr>
        <p:spPr>
          <a:xfrm>
            <a:off x="3327206" y="5779739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424EE-F41A-D71B-B074-97BD61B60BBC}"/>
              </a:ext>
            </a:extLst>
          </p:cNvPr>
          <p:cNvSpPr txBox="1"/>
          <p:nvPr/>
        </p:nvSpPr>
        <p:spPr>
          <a:xfrm>
            <a:off x="3541810" y="5788893"/>
            <a:ext cx="4336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CtrlrLuaMethodEditArea.cpp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C23DE-06F5-BB77-341E-986B3A6B4F9B}"/>
              </a:ext>
            </a:extLst>
          </p:cNvPr>
          <p:cNvSpPr txBox="1"/>
          <p:nvPr/>
        </p:nvSpPr>
        <p:spPr>
          <a:xfrm>
            <a:off x="7913720" y="5704254"/>
            <a:ext cx="2315828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Draw the whole method edit area and manage the bottom tabs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B9DCAB74-9C5C-6D36-18D3-85660AF62BEC}"/>
              </a:ext>
            </a:extLst>
          </p:cNvPr>
          <p:cNvSpPr/>
          <p:nvPr/>
        </p:nvSpPr>
        <p:spPr>
          <a:xfrm>
            <a:off x="4956068" y="2752711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3F8C1-C4E1-22D5-EAAE-2EF3F08B3E54}"/>
              </a:ext>
            </a:extLst>
          </p:cNvPr>
          <p:cNvSpPr txBox="1"/>
          <p:nvPr/>
        </p:nvSpPr>
        <p:spPr>
          <a:xfrm>
            <a:off x="5170672" y="2761865"/>
            <a:ext cx="4472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CtrlrLuaMethodCodeEditor.cpp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74B0D-45AE-CF46-6540-E4289CEDFAE9}"/>
              </a:ext>
            </a:extLst>
          </p:cNvPr>
          <p:cNvSpPr txBox="1"/>
          <p:nvPr/>
        </p:nvSpPr>
        <p:spPr>
          <a:xfrm>
            <a:off x="9643371" y="2672091"/>
            <a:ext cx="2315828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Line numbers bar</a:t>
            </a:r>
            <a:br>
              <a:rPr lang="en-US" sz="1100" noProof="1"/>
            </a:br>
            <a:r>
              <a:rPr lang="en-US" sz="1100" noProof="1"/>
              <a:t>Display and handling of the code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1C3E50B8-6AA6-97A8-AE00-05ACF329349F}"/>
              </a:ext>
            </a:extLst>
          </p:cNvPr>
          <p:cNvSpPr/>
          <p:nvPr/>
        </p:nvSpPr>
        <p:spPr>
          <a:xfrm>
            <a:off x="4956068" y="3296666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F4C21B-045F-0AA9-D8E8-081E88B3B232}"/>
              </a:ext>
            </a:extLst>
          </p:cNvPr>
          <p:cNvSpPr txBox="1"/>
          <p:nvPr/>
        </p:nvSpPr>
        <p:spPr>
          <a:xfrm>
            <a:off x="5170672" y="3305820"/>
            <a:ext cx="46794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CtrlrLuaMethodCodeTokeniser.cpp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A98937-9510-E09E-C425-C4258BAAACBF}"/>
              </a:ext>
            </a:extLst>
          </p:cNvPr>
          <p:cNvSpPr txBox="1"/>
          <p:nvPr/>
        </p:nvSpPr>
        <p:spPr>
          <a:xfrm>
            <a:off x="9850158" y="3314974"/>
            <a:ext cx="2109041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Code analyzer and colouring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7823C3-240A-A1A8-6C08-C50E4A3858F9}"/>
              </a:ext>
            </a:extLst>
          </p:cNvPr>
          <p:cNvSpPr txBox="1"/>
          <p:nvPr/>
        </p:nvSpPr>
        <p:spPr>
          <a:xfrm>
            <a:off x="7510415" y="5262353"/>
            <a:ext cx="1747935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methodEditArea -&gt; resizer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87E3B4-FC03-8EA7-45B3-A9FEDD8B83FC}"/>
              </a:ext>
            </a:extLst>
          </p:cNvPr>
          <p:cNvSpPr txBox="1"/>
          <p:nvPr/>
        </p:nvSpPr>
        <p:spPr>
          <a:xfrm>
            <a:off x="5115218" y="6256705"/>
            <a:ext cx="1961564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methodEditArea -&gt; lowerTabs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6AFF82-DCB9-EDB9-2A55-43671E040B49}"/>
              </a:ext>
            </a:extLst>
          </p:cNvPr>
          <p:cNvSpPr txBox="1"/>
          <p:nvPr/>
        </p:nvSpPr>
        <p:spPr>
          <a:xfrm>
            <a:off x="6918607" y="1059726"/>
            <a:ext cx="1896530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methodEditArea -&gt; upperTabs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6E4350-AE8F-EC29-2445-DF09E0EAEAD2}"/>
              </a:ext>
            </a:extLst>
          </p:cNvPr>
          <p:cNvSpPr txBox="1"/>
          <p:nvPr/>
        </p:nvSpPr>
        <p:spPr>
          <a:xfrm>
            <a:off x="3619928" y="797172"/>
            <a:ext cx="1256872" cy="26161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noProof="1">
                <a:solidFill>
                  <a:schemeClr val="bg1"/>
                </a:solidFill>
              </a:rPr>
              <a:t>LuaMethodEditor</a:t>
            </a:r>
          </a:p>
        </p:txBody>
      </p:sp>
    </p:spTree>
    <p:extLst>
      <p:ext uri="{BB962C8B-B14F-4D97-AF65-F5344CB8AC3E}">
        <p14:creationId xmlns:p14="http://schemas.microsoft.com/office/powerpoint/2010/main" val="1685307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647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Lua editor – Look and Feel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2" y="1498805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6" y="1507959"/>
            <a:ext cx="4229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CtrlrLuaCodeTokeniser.cpp </a:t>
            </a:r>
            <a:r>
              <a:rPr lang="en-US" sz="1100" dirty="0"/>
              <a:t>in </a:t>
            </a:r>
            <a:r>
              <a:rPr lang="en-US" sz="1100" dirty="0" err="1"/>
              <a:t>UIComponents</a:t>
            </a:r>
            <a:r>
              <a:rPr lang="en-US" sz="1100" dirty="0"/>
              <a:t> – </a:t>
            </a:r>
            <a:r>
              <a:rPr lang="en-US" sz="1100" dirty="0" err="1"/>
              <a:t>CtrlrLua</a:t>
            </a:r>
            <a:r>
              <a:rPr lang="en-US" sz="1100" dirty="0"/>
              <a:t> - </a:t>
            </a:r>
            <a:r>
              <a:rPr lang="en-US" sz="1100" dirty="0" err="1"/>
              <a:t>MethodEditor</a:t>
            </a:r>
            <a:endParaRPr lang="en-US" sz="1100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914F5C6-EBFC-CE22-D774-C1421C8246EA}"/>
              </a:ext>
            </a:extLst>
          </p:cNvPr>
          <p:cNvSpPr/>
          <p:nvPr/>
        </p:nvSpPr>
        <p:spPr>
          <a:xfrm>
            <a:off x="643812" y="2108405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147B6-9927-3FBC-0ACF-10B922E35875}"/>
              </a:ext>
            </a:extLst>
          </p:cNvPr>
          <p:cNvSpPr txBox="1"/>
          <p:nvPr/>
        </p:nvSpPr>
        <p:spPr>
          <a:xfrm>
            <a:off x="858416" y="2117559"/>
            <a:ext cx="42338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 err="1"/>
              <a:t>CtrlrLuaMethodCodeEditor</a:t>
            </a:r>
            <a:r>
              <a:rPr lang="en-US" sz="1100" i="1" dirty="0"/>
              <a:t> </a:t>
            </a:r>
            <a:r>
              <a:rPr lang="en-US" sz="1100" dirty="0"/>
              <a:t>in </a:t>
            </a:r>
            <a:r>
              <a:rPr lang="en-US" sz="1100" dirty="0" err="1"/>
              <a:t>UIComponents</a:t>
            </a:r>
            <a:r>
              <a:rPr lang="en-US" sz="1100" dirty="0"/>
              <a:t> – </a:t>
            </a:r>
            <a:r>
              <a:rPr lang="en-US" sz="1100" dirty="0" err="1"/>
              <a:t>CtrlrLua</a:t>
            </a:r>
            <a:r>
              <a:rPr lang="en-US" sz="1100" dirty="0"/>
              <a:t> - </a:t>
            </a:r>
            <a:r>
              <a:rPr lang="en-US" sz="1100" dirty="0" err="1"/>
              <a:t>MethodEditor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FD000B-E8B1-C997-E58E-985369BB724C}"/>
              </a:ext>
            </a:extLst>
          </p:cNvPr>
          <p:cNvSpPr txBox="1"/>
          <p:nvPr/>
        </p:nvSpPr>
        <p:spPr>
          <a:xfrm>
            <a:off x="5302063" y="1507959"/>
            <a:ext cx="2271776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Colors according to the type of word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F719B-5B20-A2E8-BABD-FA738F959EF4}"/>
              </a:ext>
            </a:extLst>
          </p:cNvPr>
          <p:cNvSpPr txBox="1"/>
          <p:nvPr/>
        </p:nvSpPr>
        <p:spPr>
          <a:xfrm>
            <a:off x="7788443" y="1423320"/>
            <a:ext cx="32111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Comment is 0xff3c3c3c (grey) </a:t>
            </a:r>
          </a:p>
          <a:p>
            <a:r>
              <a:rPr lang="en-US" sz="1100" noProof="1"/>
              <a:t>Can be changed to 0xff4da63a (green) or 0xff888888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D29B255C-5371-29BF-8C92-7DAACA0642BB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B3E88-5FF1-7432-A5AC-9804DC2C92A2}"/>
              </a:ext>
            </a:extLst>
          </p:cNvPr>
          <p:cNvSpPr txBox="1"/>
          <p:nvPr/>
        </p:nvSpPr>
        <p:spPr>
          <a:xfrm>
            <a:off x="858416" y="895562"/>
            <a:ext cx="44406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Juce_LookAndFeel_V3.cpp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C92E9-02FD-3257-E422-3DA87210AB5C}"/>
              </a:ext>
            </a:extLst>
          </p:cNvPr>
          <p:cNvSpPr txBox="1"/>
          <p:nvPr/>
        </p:nvSpPr>
        <p:spPr>
          <a:xfrm>
            <a:off x="6371784" y="904717"/>
            <a:ext cx="4283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StretchableLayoutResizerBar: g.fillAll (Colours::yellow.withAlpha (0.4f));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4A450E-0CB0-32FC-C1A5-529D43BD7BA7}"/>
              </a:ext>
            </a:extLst>
          </p:cNvPr>
          <p:cNvSpPr txBox="1"/>
          <p:nvPr/>
        </p:nvSpPr>
        <p:spPr>
          <a:xfrm>
            <a:off x="5299055" y="895562"/>
            <a:ext cx="915635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Resizer color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44749F-60E4-461E-2F71-C4E314E47C84}"/>
              </a:ext>
            </a:extLst>
          </p:cNvPr>
          <p:cNvSpPr txBox="1"/>
          <p:nvPr/>
        </p:nvSpPr>
        <p:spPr>
          <a:xfrm>
            <a:off x="5302063" y="2117559"/>
            <a:ext cx="1619354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Colors of the Code editor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CF7B5D-A9AF-9FEB-9028-545CC5A44940}"/>
              </a:ext>
            </a:extLst>
          </p:cNvPr>
          <p:cNvSpPr txBox="1"/>
          <p:nvPr/>
        </p:nvSpPr>
        <p:spPr>
          <a:xfrm>
            <a:off x="7211001" y="2032920"/>
            <a:ext cx="1651414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backgroundColourId</a:t>
            </a:r>
          </a:p>
          <a:p>
            <a:r>
              <a:rPr lang="en-US" sz="1100" noProof="1"/>
              <a:t>defaultTextColourId</a:t>
            </a:r>
          </a:p>
          <a:p>
            <a:r>
              <a:rPr lang="en-US" sz="1100" noProof="1"/>
              <a:t>lineNumberBackgroundId</a:t>
            </a:r>
          </a:p>
          <a:p>
            <a:r>
              <a:rPr lang="en-US" sz="1100" noProof="1"/>
              <a:t>lineNumberTextId</a:t>
            </a:r>
          </a:p>
          <a:p>
            <a:r>
              <a:rPr lang="en-US" sz="1100" noProof="1"/>
              <a:t>highlightColourId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184A72A6-DD1E-F88A-B54D-9C18FFA02797}"/>
              </a:ext>
            </a:extLst>
          </p:cNvPr>
          <p:cNvSpPr/>
          <p:nvPr/>
        </p:nvSpPr>
        <p:spPr>
          <a:xfrm>
            <a:off x="6921417" y="3419846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4E23BB-843D-7DF4-0AA2-534CB1530C56}"/>
              </a:ext>
            </a:extLst>
          </p:cNvPr>
          <p:cNvSpPr txBox="1"/>
          <p:nvPr/>
        </p:nvSpPr>
        <p:spPr>
          <a:xfrm>
            <a:off x="7136021" y="3429000"/>
            <a:ext cx="4472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Juce_LookAndFeel_V4.cpp </a:t>
            </a:r>
            <a:r>
              <a:rPr lang="en-US" sz="1100" dirty="0"/>
              <a:t>in JUCE Modules – </a:t>
            </a:r>
            <a:r>
              <a:rPr lang="en-US" sz="1100" dirty="0" err="1"/>
              <a:t>juce_gui_basics</a:t>
            </a:r>
            <a:r>
              <a:rPr lang="en-US" sz="1100" dirty="0"/>
              <a:t> - </a:t>
            </a:r>
            <a:r>
              <a:rPr lang="en-US" sz="1100" dirty="0" err="1"/>
              <a:t>lookandfeel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169D33-530E-1FE2-AD4C-945D3B1BFDD2}"/>
              </a:ext>
            </a:extLst>
          </p:cNvPr>
          <p:cNvSpPr txBox="1"/>
          <p:nvPr/>
        </p:nvSpPr>
        <p:spPr>
          <a:xfrm>
            <a:off x="7216887" y="3823156"/>
            <a:ext cx="3311296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Colours for each V4 ColourSchemes + All other colors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9565DA2-D493-B756-4421-A8690B9267E0}"/>
              </a:ext>
            </a:extLst>
          </p:cNvPr>
          <p:cNvSpPr/>
          <p:nvPr/>
        </p:nvSpPr>
        <p:spPr>
          <a:xfrm rot="10800000">
            <a:off x="7668658" y="3032008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D9EDB382-FB13-B6A2-FEBA-D8C11C516BC9}"/>
              </a:ext>
            </a:extLst>
          </p:cNvPr>
          <p:cNvSpPr/>
          <p:nvPr/>
        </p:nvSpPr>
        <p:spPr>
          <a:xfrm>
            <a:off x="643812" y="4351152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C178C1-65A4-C3B3-F10D-DC6768BE5D46}"/>
              </a:ext>
            </a:extLst>
          </p:cNvPr>
          <p:cNvSpPr txBox="1"/>
          <p:nvPr/>
        </p:nvSpPr>
        <p:spPr>
          <a:xfrm>
            <a:off x="858416" y="4360306"/>
            <a:ext cx="4336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CtrlrLuaMethodEditArea.cpp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0C645C-437A-C8F0-F28A-9D326F2A3D18}"/>
              </a:ext>
            </a:extLst>
          </p:cNvPr>
          <p:cNvSpPr txBox="1"/>
          <p:nvPr/>
        </p:nvSpPr>
        <p:spPr>
          <a:xfrm>
            <a:off x="5302063" y="4369461"/>
            <a:ext cx="286488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Colors of the method edit area (bottom tabs...)</a:t>
            </a:r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ACBF56C1-B2BC-C4FE-CF79-E594EDBAF26B}"/>
              </a:ext>
            </a:extLst>
          </p:cNvPr>
          <p:cNvSpPr/>
          <p:nvPr/>
        </p:nvSpPr>
        <p:spPr>
          <a:xfrm>
            <a:off x="643812" y="4976527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02F1EA-F75F-BEF0-39C0-00551CF77A30}"/>
              </a:ext>
            </a:extLst>
          </p:cNvPr>
          <p:cNvSpPr txBox="1"/>
          <p:nvPr/>
        </p:nvSpPr>
        <p:spPr>
          <a:xfrm>
            <a:off x="858416" y="4985681"/>
            <a:ext cx="26100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CtrlrValueTreeEditor.cpp </a:t>
            </a:r>
            <a:r>
              <a:rPr lang="en-US" sz="1100" noProof="1"/>
              <a:t>in UIComponents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B34678-0595-E236-27F2-B280AEFD8587}"/>
              </a:ext>
            </a:extLst>
          </p:cNvPr>
          <p:cNvSpPr txBox="1"/>
          <p:nvPr/>
        </p:nvSpPr>
        <p:spPr>
          <a:xfrm>
            <a:off x="3683030" y="4994836"/>
            <a:ext cx="3384260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noProof="1"/>
              <a:t>Drawing of rectangle and color of the selected method</a:t>
            </a:r>
          </a:p>
        </p:txBody>
      </p:sp>
      <p:sp>
        <p:nvSpPr>
          <p:cNvPr id="25" name="Rectangle: Folded Corner 24">
            <a:extLst>
              <a:ext uri="{FF2B5EF4-FFF2-40B4-BE49-F238E27FC236}">
                <a16:creationId xmlns:a16="http://schemas.microsoft.com/office/drawing/2014/main" id="{2C26392E-00A6-B4A6-D909-EC06494D1272}"/>
              </a:ext>
            </a:extLst>
          </p:cNvPr>
          <p:cNvSpPr/>
          <p:nvPr/>
        </p:nvSpPr>
        <p:spPr>
          <a:xfrm>
            <a:off x="643812" y="5578709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732DC6-AB15-08C8-0C27-A537D27545FA}"/>
              </a:ext>
            </a:extLst>
          </p:cNvPr>
          <p:cNvSpPr txBox="1"/>
          <p:nvPr/>
        </p:nvSpPr>
        <p:spPr>
          <a:xfrm>
            <a:off x="858416" y="5587863"/>
            <a:ext cx="2653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CtrlrInlineUtilitiesGUI.cpp </a:t>
            </a:r>
            <a:r>
              <a:rPr lang="en-US" sz="1100" noProof="1"/>
              <a:t>in UIComponents</a:t>
            </a:r>
          </a:p>
        </p:txBody>
      </p:sp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4FDE4943-1A43-CE60-BF95-ABEF20E16ADB}"/>
              </a:ext>
            </a:extLst>
          </p:cNvPr>
          <p:cNvSpPr/>
          <p:nvPr/>
        </p:nvSpPr>
        <p:spPr>
          <a:xfrm>
            <a:off x="643812" y="6169719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9BD540-01E2-B887-8C4E-629E6AC911EA}"/>
              </a:ext>
            </a:extLst>
          </p:cNvPr>
          <p:cNvSpPr txBox="1"/>
          <p:nvPr/>
        </p:nvSpPr>
        <p:spPr>
          <a:xfrm>
            <a:off x="858416" y="6178873"/>
            <a:ext cx="14061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CtrlrMacros.h </a:t>
            </a:r>
            <a:r>
              <a:rPr lang="en-US" sz="1100" noProof="1"/>
              <a:t>in 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573486-397C-444D-2244-FF2F4321FB64}"/>
              </a:ext>
            </a:extLst>
          </p:cNvPr>
          <p:cNvSpPr txBox="1"/>
          <p:nvPr/>
        </p:nvSpPr>
        <p:spPr>
          <a:xfrm>
            <a:off x="3624000" y="5578709"/>
            <a:ext cx="610295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 drawSelectionRectangle(Graphics &amp;g, int width, int height, Colour base = Colour(HIGHLIGHT_COLOUR),</a:t>
            </a:r>
          </a:p>
          <a:p>
            <a:r>
              <a:rPr lang="en-US" sz="1100" noProof="1"/>
              <a:t>                           const float baseSaturation = 0.9f, const float baseAlpha = 0.9f,</a:t>
            </a:r>
          </a:p>
          <a:p>
            <a:r>
              <a:rPr lang="en-US" sz="1100" noProof="1"/>
              <a:t>                           const float gradientMin = 0.2f, const float gradientMax = 0.25f)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815C94-44B8-C435-96CD-D15ACF7E849C}"/>
              </a:ext>
            </a:extLst>
          </p:cNvPr>
          <p:cNvSpPr txBox="1"/>
          <p:nvPr/>
        </p:nvSpPr>
        <p:spPr>
          <a:xfrm>
            <a:off x="3623999" y="6188309"/>
            <a:ext cx="26260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#define HIGHLIGHT_COLOUR	0xff4364ff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52E709B7-19EC-B836-580E-AE7823EA1975}"/>
              </a:ext>
            </a:extLst>
          </p:cNvPr>
          <p:cNvSpPr/>
          <p:nvPr/>
        </p:nvSpPr>
        <p:spPr>
          <a:xfrm rot="10800000">
            <a:off x="1634760" y="5878791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44581307-A173-312A-049A-484ACCE3CD0A}"/>
              </a:ext>
            </a:extLst>
          </p:cNvPr>
          <p:cNvSpPr/>
          <p:nvPr/>
        </p:nvSpPr>
        <p:spPr>
          <a:xfrm rot="10800000">
            <a:off x="1634760" y="5267617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85232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951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Lua editor - Method edit area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3D4BF0-D353-0E5D-6E96-094B12D9F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60" b="-1"/>
          <a:stretch/>
        </p:blipFill>
        <p:spPr>
          <a:xfrm>
            <a:off x="643812" y="1479030"/>
            <a:ext cx="10048824" cy="1124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9148A524-080A-3589-25B5-31670D1E1AF2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DB026-640C-C8E1-545F-5CDE3CF78B0D}"/>
              </a:ext>
            </a:extLst>
          </p:cNvPr>
          <p:cNvSpPr txBox="1"/>
          <p:nvPr/>
        </p:nvSpPr>
        <p:spPr>
          <a:xfrm>
            <a:off x="858416" y="886408"/>
            <a:ext cx="4336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CtrlrLuaMethodEditArea.cpp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D05497-AA99-743E-8BEE-F55D5ED50B1D}"/>
              </a:ext>
            </a:extLst>
          </p:cNvPr>
          <p:cNvSpPr txBox="1"/>
          <p:nvPr/>
        </p:nvSpPr>
        <p:spPr>
          <a:xfrm>
            <a:off x="5261256" y="705234"/>
            <a:ext cx="3165587" cy="600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Draw the whole method edit area</a:t>
            </a:r>
          </a:p>
          <a:p>
            <a:r>
              <a:rPr lang="en-US" noProof="1"/>
              <a:t>Create and manage the bottom tabs</a:t>
            </a:r>
          </a:p>
          <a:p>
            <a:r>
              <a:rPr lang="en-US" noProof="1"/>
              <a:t>Manage the Output tab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455DDDA7-B3E5-300C-A984-D749B36C25E3}"/>
              </a:ext>
            </a:extLst>
          </p:cNvPr>
          <p:cNvSpPr/>
          <p:nvPr/>
        </p:nvSpPr>
        <p:spPr>
          <a:xfrm>
            <a:off x="643812" y="3064247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03983-17BC-ACA8-CE79-F91CB533ADED}"/>
              </a:ext>
            </a:extLst>
          </p:cNvPr>
          <p:cNvSpPr txBox="1"/>
          <p:nvPr/>
        </p:nvSpPr>
        <p:spPr>
          <a:xfrm>
            <a:off x="858416" y="3064247"/>
            <a:ext cx="4087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CtrlrLuaMethodFind.cpp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38C46-FB1F-C5E0-9BFA-B02956414226}"/>
              </a:ext>
            </a:extLst>
          </p:cNvPr>
          <p:cNvSpPr txBox="1"/>
          <p:nvPr/>
        </p:nvSpPr>
        <p:spPr>
          <a:xfrm>
            <a:off x="5261255" y="3059872"/>
            <a:ext cx="2758619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Draw and manage the Find and replace tab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78127A12-6C27-6237-FBBA-E243F634BA7A}"/>
              </a:ext>
            </a:extLst>
          </p:cNvPr>
          <p:cNvSpPr/>
          <p:nvPr/>
        </p:nvSpPr>
        <p:spPr>
          <a:xfrm>
            <a:off x="643812" y="4521323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FAAA98-E3E9-E37A-214C-F49ED4C0E1D3}"/>
              </a:ext>
            </a:extLst>
          </p:cNvPr>
          <p:cNvSpPr txBox="1"/>
          <p:nvPr/>
        </p:nvSpPr>
        <p:spPr>
          <a:xfrm>
            <a:off x="858416" y="4521323"/>
            <a:ext cx="46313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CtrlrLuaMethodEditorConsole.cpp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BCEF57-A076-073F-884E-C5C051001828}"/>
              </a:ext>
            </a:extLst>
          </p:cNvPr>
          <p:cNvSpPr txBox="1"/>
          <p:nvPr/>
        </p:nvSpPr>
        <p:spPr>
          <a:xfrm>
            <a:off x="5668224" y="4516948"/>
            <a:ext cx="2758619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Draw and manage the Console tab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1E5EAF53-9622-2FBC-4E9B-2439733A581F}"/>
              </a:ext>
            </a:extLst>
          </p:cNvPr>
          <p:cNvSpPr/>
          <p:nvPr/>
        </p:nvSpPr>
        <p:spPr>
          <a:xfrm>
            <a:off x="643812" y="5099287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3BC6B5-8624-35D8-233F-1A9F0AB353EE}"/>
              </a:ext>
            </a:extLst>
          </p:cNvPr>
          <p:cNvSpPr txBox="1"/>
          <p:nvPr/>
        </p:nvSpPr>
        <p:spPr>
          <a:xfrm>
            <a:off x="858416" y="5099287"/>
            <a:ext cx="4626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CtrlrLuaMethodDebuggerXXX.cpp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20286-2A9B-558C-0188-5AB836823991}"/>
              </a:ext>
            </a:extLst>
          </p:cNvPr>
          <p:cNvSpPr txBox="1"/>
          <p:nvPr/>
        </p:nvSpPr>
        <p:spPr>
          <a:xfrm>
            <a:off x="5668224" y="5094912"/>
            <a:ext cx="2758619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Draw and manage the Debugger output tab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12" y="3533753"/>
            <a:ext cx="780534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dirty="0"/>
              <a:t>Find in Open methods / Find in All methods</a:t>
            </a:r>
            <a:br>
              <a:rPr lang="en-US" dirty="0"/>
            </a:br>
            <a:r>
              <a:rPr lang="en-US" dirty="0"/>
              <a:t>Find results displayed in Find and replace tab are calling </a:t>
            </a:r>
            <a:r>
              <a:rPr lang="en-US" dirty="0" err="1"/>
              <a:t>searchResultClicked</a:t>
            </a:r>
            <a:r>
              <a:rPr lang="en-US" dirty="0"/>
              <a:t> in </a:t>
            </a:r>
            <a:r>
              <a:rPr lang="en-US" i="1" noProof="1"/>
              <a:t>CtrlrLuaMethodCodeEditor.cpp</a:t>
            </a:r>
            <a:r>
              <a:rPr lang="en-US" noProof="1"/>
              <a:t> when double clicked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44749F-60E4-461E-2F71-C4E314E47C84}"/>
              </a:ext>
            </a:extLst>
          </p:cNvPr>
          <p:cNvSpPr txBox="1"/>
          <p:nvPr/>
        </p:nvSpPr>
        <p:spPr>
          <a:xfrm>
            <a:off x="8319407" y="2988762"/>
            <a:ext cx="3600449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Ctrl-F popup is managed in CtrlrLuaMethodCodeEditor.cpp in UIComponents – CtrlrLua – MethodEditor (similar code but not exactly the same)</a:t>
            </a: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681" y="5518377"/>
            <a:ext cx="70199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826" y="6203496"/>
            <a:ext cx="203999" cy="287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2383185" y="6203496"/>
            <a:ext cx="2319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Keep methods opened after a match</a:t>
            </a:r>
          </a:p>
        </p:txBody>
      </p:sp>
    </p:spTree>
    <p:extLst>
      <p:ext uri="{BB962C8B-B14F-4D97-AF65-F5344CB8AC3E}">
        <p14:creationId xmlns:p14="http://schemas.microsoft.com/office/powerpoint/2010/main" val="3024783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1867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Lua editor - Menu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9148A524-080A-3589-25B5-31670D1E1AF2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89568-8B59-A13A-BEF3-399C5B85182D}"/>
              </a:ext>
            </a:extLst>
          </p:cNvPr>
          <p:cNvSpPr txBox="1"/>
          <p:nvPr/>
        </p:nvSpPr>
        <p:spPr>
          <a:xfrm>
            <a:off x="858416" y="886408"/>
            <a:ext cx="4187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CtrlrLuaMethodEditor.cpp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6B996-259A-7A5C-E9FA-AC3FE6E4DB1E}"/>
              </a:ext>
            </a:extLst>
          </p:cNvPr>
          <p:cNvSpPr txBox="1"/>
          <p:nvPr/>
        </p:nvSpPr>
        <p:spPr>
          <a:xfrm>
            <a:off x="5152199" y="630471"/>
            <a:ext cx="4010348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Draw the Lua Editor with its 3 zones and contains all the functions to manage the methods in the method tree (menu bar, create, delete, drag and drop...) and the tabs of the different methods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AFF97-DA50-1058-6845-340335E1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6" y="1323865"/>
            <a:ext cx="2487878" cy="1764240"/>
          </a:xfrm>
          <a:prstGeom prst="rect">
            <a:avLst/>
          </a:prstGeom>
        </p:spPr>
      </p:pic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599BF657-8601-1E97-CCD2-9DD5EDC0C30F}"/>
              </a:ext>
            </a:extLst>
          </p:cNvPr>
          <p:cNvSpPr/>
          <p:nvPr/>
        </p:nvSpPr>
        <p:spPr>
          <a:xfrm>
            <a:off x="4084696" y="1894485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1D8B30-A039-E23A-5760-CD521ECBB35F}"/>
              </a:ext>
            </a:extLst>
          </p:cNvPr>
          <p:cNvSpPr txBox="1"/>
          <p:nvPr/>
        </p:nvSpPr>
        <p:spPr>
          <a:xfrm>
            <a:off x="4299300" y="1894485"/>
            <a:ext cx="44775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CtrlrLuaCodeEditorSettings.cpp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F5191-7D88-6249-2C9F-3CF9358D5741}"/>
              </a:ext>
            </a:extLst>
          </p:cNvPr>
          <p:cNvSpPr txBox="1"/>
          <p:nvPr/>
        </p:nvSpPr>
        <p:spPr>
          <a:xfrm>
            <a:off x="4367647" y="2317107"/>
            <a:ext cx="4010348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Draw the Code editor settings window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6337545-D488-87FE-03BA-9812957AF536}"/>
              </a:ext>
            </a:extLst>
          </p:cNvPr>
          <p:cNvSpPr/>
          <p:nvPr/>
        </p:nvSpPr>
        <p:spPr>
          <a:xfrm>
            <a:off x="4084696" y="295197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8856F-9621-57B5-F900-5EAD86F07F2B}"/>
              </a:ext>
            </a:extLst>
          </p:cNvPr>
          <p:cNvSpPr txBox="1"/>
          <p:nvPr/>
        </p:nvSpPr>
        <p:spPr>
          <a:xfrm>
            <a:off x="4299300" y="2951978"/>
            <a:ext cx="44775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CtrlrLuaCodeEditorSettings.h </a:t>
            </a:r>
            <a:r>
              <a:rPr lang="en-US" sz="1100" noProof="1"/>
              <a:t>in UIComponents – CtrlrLua - MethodEditor</a:t>
            </a:r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1E278D4B-2AAF-2763-46ED-2D457CF46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06" y="3600836"/>
            <a:ext cx="2456696" cy="2844967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94061C9E-CBF6-5575-B048-A50F677BAC5D}"/>
              </a:ext>
            </a:extLst>
          </p:cNvPr>
          <p:cNvSpPr/>
          <p:nvPr/>
        </p:nvSpPr>
        <p:spPr>
          <a:xfrm>
            <a:off x="1659069" y="3221022"/>
            <a:ext cx="239570" cy="2616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2B3492-BEA9-5797-EE2C-0CE580D69E7C}"/>
              </a:ext>
            </a:extLst>
          </p:cNvPr>
          <p:cNvSpPr txBox="1"/>
          <p:nvPr/>
        </p:nvSpPr>
        <p:spPr>
          <a:xfrm>
            <a:off x="4299300" y="4128568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CtrlrIDs.h </a:t>
            </a:r>
            <a:r>
              <a:rPr lang="en-US" sz="1100" noProof="1"/>
              <a:t>in 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252D2-830C-C7EE-1048-0DE8F031C28D}"/>
              </a:ext>
            </a:extLst>
          </p:cNvPr>
          <p:cNvSpPr txBox="1"/>
          <p:nvPr/>
        </p:nvSpPr>
        <p:spPr>
          <a:xfrm>
            <a:off x="4372800" y="4490799"/>
            <a:ext cx="2372758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DECLARE_ID (</a:t>
            </a:r>
            <a:r>
              <a:rPr lang="en-US" sz="1100" i="1" noProof="1"/>
              <a:t>each_property_name</a:t>
            </a:r>
            <a:r>
              <a:rPr lang="en-US" sz="1100" noProof="1"/>
              <a:t>)</a:t>
            </a: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6C2FF4BC-5892-E236-6846-62EF97A1796D}"/>
              </a:ext>
            </a:extLst>
          </p:cNvPr>
          <p:cNvSpPr/>
          <p:nvPr/>
        </p:nvSpPr>
        <p:spPr>
          <a:xfrm>
            <a:off x="4084696" y="4119413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615D7-D404-6564-D351-6E0889F45C12}"/>
              </a:ext>
            </a:extLst>
          </p:cNvPr>
          <p:cNvSpPr txBox="1"/>
          <p:nvPr/>
        </p:nvSpPr>
        <p:spPr>
          <a:xfrm>
            <a:off x="4109373" y="4853030"/>
            <a:ext cx="4822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luaMethodEditorFont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luaMethodEditorBgColour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luaMethodEditorLineNumbersBgColour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	</a:t>
            </a:r>
            <a:r>
              <a:rPr lang="en-US" sz="800" dirty="0">
                <a:solidFill>
                  <a:srgbClr val="92D050"/>
                </a:solidFill>
                <a:latin typeface="Consolas" panose="020B0609020204030204" pitchFamily="49" charset="0"/>
              </a:rPr>
              <a:t>// New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6F008A"/>
                </a:solidFill>
                <a:latin typeface="Consolas" panose="020B0609020204030204" pitchFamily="49" charset="0"/>
              </a:rPr>
              <a:t>DECLARE_ID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luaMethodEditorLineNumbersColour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 	</a:t>
            </a:r>
            <a:r>
              <a:rPr lang="en-US" sz="800" dirty="0">
                <a:solidFill>
                  <a:srgbClr val="92D050"/>
                </a:solidFill>
                <a:latin typeface="Consolas" panose="020B0609020204030204" pitchFamily="49" charset="0"/>
              </a:rPr>
              <a:t>// New</a:t>
            </a:r>
          </a:p>
        </p:txBody>
      </p:sp>
    </p:spTree>
    <p:extLst>
      <p:ext uri="{BB962C8B-B14F-4D97-AF65-F5344CB8AC3E}">
        <p14:creationId xmlns:p14="http://schemas.microsoft.com/office/powerpoint/2010/main" val="2180824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45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Lua editor – Code editor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9148A524-080A-3589-25B5-31670D1E1AF2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89568-8B59-A13A-BEF3-399C5B85182D}"/>
              </a:ext>
            </a:extLst>
          </p:cNvPr>
          <p:cNvSpPr txBox="1"/>
          <p:nvPr/>
        </p:nvSpPr>
        <p:spPr>
          <a:xfrm>
            <a:off x="858416" y="886408"/>
            <a:ext cx="4472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1"/>
              <a:t>CtrlrLuaMethodCodeEditor.cpp </a:t>
            </a:r>
            <a:r>
              <a:rPr lang="en-US" sz="1100" noProof="1"/>
              <a:t>in UIComponents – CtrlrLua - MethodEditor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6B996-259A-7A5C-E9FA-AC3FE6E4DB1E}"/>
              </a:ext>
            </a:extLst>
          </p:cNvPr>
          <p:cNvSpPr txBox="1"/>
          <p:nvPr/>
        </p:nvSpPr>
        <p:spPr>
          <a:xfrm>
            <a:off x="6172735" y="630471"/>
            <a:ext cx="4010348" cy="7694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All actions occuring in the code editor</a:t>
            </a:r>
          </a:p>
          <a:p>
            <a:r>
              <a:rPr lang="en-US" sz="1100" noProof="1"/>
              <a:t>So, also contains the Ctrl-F, Ctrl-G code</a:t>
            </a:r>
            <a:br>
              <a:rPr lang="en-US" sz="1100" noProof="1"/>
            </a:br>
            <a:r>
              <a:rPr lang="en-US" sz="1100" noProof="1"/>
              <a:t>The Find code is repeated from the Find and Replace tab but here applied to the Find popup.</a:t>
            </a:r>
          </a:p>
        </p:txBody>
      </p:sp>
    </p:spTree>
    <p:extLst>
      <p:ext uri="{BB962C8B-B14F-4D97-AF65-F5344CB8AC3E}">
        <p14:creationId xmlns:p14="http://schemas.microsoft.com/office/powerpoint/2010/main" val="1574332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742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Opening a panel for editing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6" y="895562"/>
            <a:ext cx="6431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... </a:t>
            </a:r>
            <a:r>
              <a:rPr lang="en-US" sz="1100" dirty="0"/>
              <a:t>in xxx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914F5C6-EBFC-CE22-D774-C1421C8246EA}"/>
              </a:ext>
            </a:extLst>
          </p:cNvPr>
          <p:cNvSpPr/>
          <p:nvPr/>
        </p:nvSpPr>
        <p:spPr>
          <a:xfrm>
            <a:off x="643812" y="14960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147B6-9927-3FBC-0ACF-10B922E35875}"/>
              </a:ext>
            </a:extLst>
          </p:cNvPr>
          <p:cNvSpPr txBox="1"/>
          <p:nvPr/>
        </p:nvSpPr>
        <p:spPr>
          <a:xfrm>
            <a:off x="858416" y="1505162"/>
            <a:ext cx="6431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... </a:t>
            </a:r>
            <a:r>
              <a:rPr lang="en-US" sz="1100" dirty="0"/>
              <a:t>in xxx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6AE3F-9B4E-C420-3546-B82209736C42}"/>
              </a:ext>
            </a:extLst>
          </p:cNvPr>
          <p:cNvSpPr txBox="1"/>
          <p:nvPr/>
        </p:nvSpPr>
        <p:spPr>
          <a:xfrm>
            <a:off x="2665222" y="2438576"/>
            <a:ext cx="44766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noProof="1">
                <a:solidFill>
                  <a:srgbClr val="C00000"/>
                </a:solidFill>
              </a:rPr>
              <a:t>CtrlrPanel.cpp </a:t>
            </a:r>
            <a:r>
              <a:rPr lang="en-US" sz="1200" noProof="1">
                <a:solidFill>
                  <a:srgbClr val="C00000"/>
                </a:solidFill>
              </a:rPr>
              <a:t>in Core - CtrlrPanel</a:t>
            </a:r>
          </a:p>
          <a:p>
            <a:r>
              <a:rPr lang="en-US" sz="1200" i="1" noProof="1">
                <a:solidFill>
                  <a:srgbClr val="C00000"/>
                </a:solidFill>
              </a:rPr>
              <a:t>CtrlrDocumentPanel.cpp </a:t>
            </a:r>
            <a:r>
              <a:rPr lang="en-US" sz="1200" noProof="1">
                <a:solidFill>
                  <a:srgbClr val="C00000"/>
                </a:solidFill>
              </a:rPr>
              <a:t>in UIComponents - CtrlrApplicationWindow </a:t>
            </a:r>
          </a:p>
          <a:p>
            <a:r>
              <a:rPr lang="en-US" sz="1200" i="1" noProof="1">
                <a:solidFill>
                  <a:srgbClr val="C00000"/>
                </a:solidFill>
              </a:rPr>
              <a:t>CtrlrEditor.cpp </a:t>
            </a:r>
            <a:r>
              <a:rPr lang="en-US" sz="1200" noProof="1">
                <a:solidFill>
                  <a:srgbClr val="C00000"/>
                </a:solidFill>
              </a:rPr>
              <a:t>in UIComponents - CtrlrApplicationWindow </a:t>
            </a:r>
          </a:p>
          <a:p>
            <a:r>
              <a:rPr lang="en-US" sz="1200" i="1" noProof="1">
                <a:solidFill>
                  <a:srgbClr val="C00000"/>
                </a:solidFill>
              </a:rPr>
              <a:t>CtrlrPanelEditor.cpp </a:t>
            </a:r>
            <a:r>
              <a:rPr lang="en-US" sz="1200" noProof="1">
                <a:solidFill>
                  <a:srgbClr val="C00000"/>
                </a:solidFill>
              </a:rPr>
              <a:t>in UIComponents - CtrlrPanel</a:t>
            </a:r>
          </a:p>
          <a:p>
            <a:r>
              <a:rPr lang="en-US" sz="1200" i="1" noProof="1">
                <a:solidFill>
                  <a:srgbClr val="C00000"/>
                </a:solidFill>
              </a:rPr>
              <a:t>CtrlrPanelViewport.cpp </a:t>
            </a:r>
            <a:r>
              <a:rPr lang="en-US" sz="1200" noProof="1">
                <a:solidFill>
                  <a:srgbClr val="C00000"/>
                </a:solidFill>
              </a:rPr>
              <a:t>in UIComponents - CtrlrPanel</a:t>
            </a:r>
          </a:p>
          <a:p>
            <a:r>
              <a:rPr lang="en-US" sz="1200" i="1" noProof="1">
                <a:solidFill>
                  <a:srgbClr val="C00000"/>
                </a:solidFill>
              </a:rPr>
              <a:t>CtrlrViewport.cpp </a:t>
            </a:r>
            <a:r>
              <a:rPr lang="en-US" sz="1200" noProof="1">
                <a:solidFill>
                  <a:srgbClr val="C00000"/>
                </a:solidFill>
              </a:rPr>
              <a:t>in UIComponents - CtrlrPanel</a:t>
            </a:r>
          </a:p>
          <a:p>
            <a:endParaRPr lang="en-US" sz="1200" noProof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540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60342-2F70-F14D-21F6-C2F8D6092854}"/>
              </a:ext>
            </a:extLst>
          </p:cNvPr>
          <p:cNvSpPr txBox="1"/>
          <p:nvPr/>
        </p:nvSpPr>
        <p:spPr>
          <a:xfrm>
            <a:off x="550506" y="335902"/>
            <a:ext cx="296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Exporting and saving panels...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1489425-E604-DED0-0EC3-234871AA7B66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EFD6-127A-381B-555B-327C19DC289B}"/>
              </a:ext>
            </a:extLst>
          </p:cNvPr>
          <p:cNvSpPr txBox="1"/>
          <p:nvPr/>
        </p:nvSpPr>
        <p:spPr>
          <a:xfrm>
            <a:off x="858416" y="895562"/>
            <a:ext cx="29995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CtrlrPanelFileOperations.cpp </a:t>
            </a:r>
            <a:r>
              <a:rPr lang="en-US" sz="1100" dirty="0"/>
              <a:t>in Core - </a:t>
            </a:r>
            <a:r>
              <a:rPr lang="en-US" sz="1100" dirty="0" err="1"/>
              <a:t>CtrlrPanel</a:t>
            </a:r>
            <a:endParaRPr lang="en-US" sz="1100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914F5C6-EBFC-CE22-D774-C1421C8246EA}"/>
              </a:ext>
            </a:extLst>
          </p:cNvPr>
          <p:cNvSpPr/>
          <p:nvPr/>
        </p:nvSpPr>
        <p:spPr>
          <a:xfrm>
            <a:off x="643812" y="14960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147B6-9927-3FBC-0ACF-10B922E35875}"/>
              </a:ext>
            </a:extLst>
          </p:cNvPr>
          <p:cNvSpPr txBox="1"/>
          <p:nvPr/>
        </p:nvSpPr>
        <p:spPr>
          <a:xfrm>
            <a:off x="858416" y="1505162"/>
            <a:ext cx="2608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Different destinations for exports </a:t>
            </a:r>
            <a:r>
              <a:rPr lang="en-US" sz="1100" dirty="0"/>
              <a:t>in Native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D5F77DB5-A908-5B9B-6ED5-DA9FC642CB43}"/>
              </a:ext>
            </a:extLst>
          </p:cNvPr>
          <p:cNvSpPr txBox="1"/>
          <p:nvPr/>
        </p:nvSpPr>
        <p:spPr>
          <a:xfrm>
            <a:off x="3857955" y="1496008"/>
            <a:ext cx="4010348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VST3, AU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D350051E-514E-F660-AC0E-8C1E6EAA173E}"/>
              </a:ext>
            </a:extLst>
          </p:cNvPr>
          <p:cNvSpPr txBox="1"/>
          <p:nvPr/>
        </p:nvSpPr>
        <p:spPr>
          <a:xfrm>
            <a:off x="858416" y="1970327"/>
            <a:ext cx="71846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/>
              <a:t>Windows</a:t>
            </a:r>
          </a:p>
          <a:p>
            <a:r>
              <a:rPr lang="en-US" sz="1100" noProof="1"/>
              <a:t>Mac</a:t>
            </a:r>
          </a:p>
          <a:p>
            <a:r>
              <a:rPr lang="en-US" sz="1100" noProof="1"/>
              <a:t>Linux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A15C1B-1DA9-D3B3-A281-10784580A8BD}"/>
              </a:ext>
            </a:extLst>
          </p:cNvPr>
          <p:cNvSpPr txBox="1"/>
          <p:nvPr/>
        </p:nvSpPr>
        <p:spPr>
          <a:xfrm>
            <a:off x="1811115" y="1970327"/>
            <a:ext cx="4010348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The current CtrlrX VST3 has its properties coming from Projucer</a:t>
            </a:r>
          </a:p>
          <a:p>
            <a:r>
              <a:rPr lang="en-US" sz="1100" noProof="1"/>
              <a:t>Export a VST3 based on the current VST3 plugin version of CtrlrX</a:t>
            </a:r>
          </a:p>
          <a:p>
            <a:r>
              <a:rPr lang="en-US" sz="1100" noProof="1"/>
              <a:t>Replace key properties by the one of the current panel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DC3CBBB-E59A-CD44-C750-5AD770B6A881}"/>
              </a:ext>
            </a:extLst>
          </p:cNvPr>
          <p:cNvSpPr txBox="1"/>
          <p:nvPr/>
        </p:nvSpPr>
        <p:spPr>
          <a:xfrm>
            <a:off x="189234" y="2962778"/>
            <a:ext cx="6094638" cy="33085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fr-BE" dirty="0"/>
              <a:t>String </a:t>
            </a:r>
            <a:r>
              <a:rPr lang="fr-BE" dirty="0" err="1"/>
              <a:t>pluginName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name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pluginCode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panelInstanceUID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manufacturerName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panelAuthorName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manufacturerCode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panelInstanceManufacturerID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manufacturerEmail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panelAuthorEmail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manufacturerUrl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panelAuthorUrl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versionMajor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panelVersionMajor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versionMinor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panelVersionMinor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r>
              <a:rPr lang="fr-BE" dirty="0"/>
              <a:t>String </a:t>
            </a:r>
            <a:r>
              <a:rPr lang="fr-BE" dirty="0" err="1"/>
              <a:t>plugType</a:t>
            </a:r>
            <a:r>
              <a:rPr lang="fr-BE" dirty="0"/>
              <a:t> = </a:t>
            </a:r>
            <a:r>
              <a:rPr lang="fr-BE" dirty="0" err="1"/>
              <a:t>panelToWrite</a:t>
            </a:r>
            <a:r>
              <a:rPr lang="fr-BE" dirty="0"/>
              <a:t>-&gt;</a:t>
            </a:r>
            <a:r>
              <a:rPr lang="fr-BE" dirty="0" err="1"/>
              <a:t>getProperty</a:t>
            </a:r>
            <a:r>
              <a:rPr lang="fr-BE" dirty="0"/>
              <a:t>(</a:t>
            </a:r>
            <a:r>
              <a:rPr lang="fr-BE" dirty="0" err="1"/>
              <a:t>Ids</a:t>
            </a:r>
            <a:r>
              <a:rPr lang="fr-BE" dirty="0"/>
              <a:t>::</a:t>
            </a:r>
            <a:r>
              <a:rPr lang="fr-BE" dirty="0" err="1"/>
              <a:t>panelPlugType</a:t>
            </a:r>
            <a:r>
              <a:rPr lang="fr-BE" dirty="0"/>
              <a:t>).</a:t>
            </a:r>
            <a:r>
              <a:rPr lang="fr-BE" dirty="0" err="1"/>
              <a:t>toString</a:t>
            </a:r>
            <a:r>
              <a:rPr lang="fr-BE" dirty="0"/>
              <a:t>();</a:t>
            </a:r>
          </a:p>
          <a:p>
            <a:endParaRPr lang="fr-BE" dirty="0"/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pluginName</a:t>
            </a:r>
            <a:r>
              <a:rPr lang="fr-BE" dirty="0"/>
              <a:t>, </a:t>
            </a:r>
            <a:r>
              <a:rPr lang="fr-BE" b="1" dirty="0"/>
              <a:t>24</a:t>
            </a:r>
            <a:r>
              <a:rPr lang="fr-BE" dirty="0"/>
              <a:t>, </a:t>
            </a:r>
            <a:r>
              <a:rPr lang="fr-BE" dirty="0" err="1"/>
              <a:t>pluginNameHex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pluginCode</a:t>
            </a:r>
            <a:r>
              <a:rPr lang="fr-BE" dirty="0"/>
              <a:t>, </a:t>
            </a:r>
            <a:r>
              <a:rPr lang="fr-BE" b="1" dirty="0"/>
              <a:t>4</a:t>
            </a:r>
            <a:r>
              <a:rPr lang="fr-BE" dirty="0"/>
              <a:t>, </a:t>
            </a:r>
            <a:r>
              <a:rPr lang="fr-BE" dirty="0" err="1"/>
              <a:t>pluginCodeHex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manufacturerName</a:t>
            </a:r>
            <a:r>
              <a:rPr lang="fr-BE" dirty="0"/>
              <a:t>, </a:t>
            </a:r>
            <a:r>
              <a:rPr lang="fr-BE" b="1" dirty="0"/>
              <a:t>32</a:t>
            </a:r>
            <a:r>
              <a:rPr lang="fr-BE" dirty="0"/>
              <a:t>, </a:t>
            </a:r>
            <a:r>
              <a:rPr lang="fr-BE" dirty="0" err="1"/>
              <a:t>manufacturerNameHex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manufacturerCode</a:t>
            </a:r>
            <a:r>
              <a:rPr lang="fr-BE" dirty="0"/>
              <a:t>, </a:t>
            </a:r>
            <a:r>
              <a:rPr lang="fr-BE" b="1" dirty="0"/>
              <a:t>4</a:t>
            </a:r>
            <a:r>
              <a:rPr lang="fr-BE" dirty="0"/>
              <a:t>, </a:t>
            </a:r>
            <a:r>
              <a:rPr lang="fr-BE" dirty="0" err="1"/>
              <a:t>manufacturerCodeHex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manufacturerEmail</a:t>
            </a:r>
            <a:r>
              <a:rPr lang="fr-BE" dirty="0"/>
              <a:t>, </a:t>
            </a:r>
            <a:r>
              <a:rPr lang="fr-BE" b="1" dirty="0"/>
              <a:t>32</a:t>
            </a:r>
            <a:r>
              <a:rPr lang="fr-BE" dirty="0"/>
              <a:t>, </a:t>
            </a:r>
            <a:r>
              <a:rPr lang="fr-BE" dirty="0" err="1"/>
              <a:t>manufacturerEmailHex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manufacturerUrl</a:t>
            </a:r>
            <a:r>
              <a:rPr lang="fr-BE" dirty="0"/>
              <a:t>, </a:t>
            </a:r>
            <a:r>
              <a:rPr lang="fr-BE" b="1" dirty="0"/>
              <a:t>32</a:t>
            </a:r>
            <a:r>
              <a:rPr lang="fr-BE" dirty="0"/>
              <a:t>, </a:t>
            </a:r>
            <a:r>
              <a:rPr lang="fr-BE" dirty="0" err="1"/>
              <a:t>manufacturerUrlHex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versionMajor</a:t>
            </a:r>
            <a:r>
              <a:rPr lang="fr-BE" dirty="0"/>
              <a:t>, </a:t>
            </a:r>
            <a:r>
              <a:rPr lang="fr-BE" b="1" dirty="0"/>
              <a:t>2</a:t>
            </a:r>
            <a:r>
              <a:rPr lang="fr-BE" dirty="0"/>
              <a:t>, </a:t>
            </a:r>
            <a:r>
              <a:rPr lang="fr-BE" dirty="0" err="1"/>
              <a:t>versionMajorHex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versionMinor</a:t>
            </a:r>
            <a:r>
              <a:rPr lang="fr-BE" dirty="0"/>
              <a:t>, </a:t>
            </a:r>
            <a:r>
              <a:rPr lang="fr-BE" b="1" dirty="0"/>
              <a:t>2</a:t>
            </a:r>
            <a:r>
              <a:rPr lang="fr-BE" dirty="0"/>
              <a:t>, </a:t>
            </a:r>
            <a:r>
              <a:rPr lang="fr-BE" dirty="0" err="1"/>
              <a:t>versionMinorHex</a:t>
            </a:r>
            <a:r>
              <a:rPr lang="fr-BE" dirty="0"/>
              <a:t>);</a:t>
            </a:r>
          </a:p>
          <a:p>
            <a:r>
              <a:rPr lang="fr-BE" dirty="0" err="1"/>
              <a:t>hexStringToBytes</a:t>
            </a:r>
            <a:r>
              <a:rPr lang="fr-BE" dirty="0"/>
              <a:t>(</a:t>
            </a:r>
            <a:r>
              <a:rPr lang="fr-BE" dirty="0" err="1"/>
              <a:t>plugType</a:t>
            </a:r>
            <a:r>
              <a:rPr lang="fr-BE" dirty="0"/>
              <a:t>, </a:t>
            </a:r>
            <a:r>
              <a:rPr lang="fr-BE" b="1" dirty="0"/>
              <a:t>16</a:t>
            </a:r>
            <a:r>
              <a:rPr lang="fr-BE" dirty="0"/>
              <a:t>, </a:t>
            </a:r>
            <a:r>
              <a:rPr lang="fr-BE" dirty="0" err="1"/>
              <a:t>plugTypeHex</a:t>
            </a:r>
            <a:r>
              <a:rPr lang="fr-BE" dirty="0"/>
              <a:t>);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C9D184A-A999-1C00-5065-B6EA6985B761}"/>
              </a:ext>
            </a:extLst>
          </p:cNvPr>
          <p:cNvSpPr txBox="1"/>
          <p:nvPr/>
        </p:nvSpPr>
        <p:spPr>
          <a:xfrm>
            <a:off x="6097362" y="1635967"/>
            <a:ext cx="6094638" cy="48320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Replace plugin name "CtrlrX - Sunny Synths" by the one of the panel to export (21 bytes so will be extended to 24 bytes in the vst3 file)</a:t>
            </a:r>
          </a:p>
          <a:p>
            <a:r>
              <a:rPr lang="en-US" dirty="0" err="1"/>
              <a:t>hexStringToBytes</a:t>
            </a:r>
            <a:r>
              <a:rPr lang="en-US" dirty="0"/>
              <a:t>("43 74 72 6C 72 58 20 2D 20 53 75 6E </a:t>
            </a:r>
            <a:r>
              <a:rPr lang="en-US" dirty="0" err="1"/>
              <a:t>6E</a:t>
            </a:r>
            <a:r>
              <a:rPr lang="en-US" dirty="0"/>
              <a:t> 79 20 53 79 6E 74 68 73 00 00 00", </a:t>
            </a:r>
            <a:r>
              <a:rPr lang="en-US" dirty="0" err="1"/>
              <a:t>searchPluginNameHex</a:t>
            </a:r>
            <a:r>
              <a:rPr lang="en-US" dirty="0"/>
              <a:t>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Replace plugin code "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cTrX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 by the one of the panel to export</a:t>
            </a:r>
          </a:p>
          <a:p>
            <a:r>
              <a:rPr lang="en-US" dirty="0" err="1"/>
              <a:t>hexStringToBytes</a:t>
            </a:r>
            <a:r>
              <a:rPr lang="en-US" dirty="0"/>
              <a:t>("63 54 72 58", </a:t>
            </a:r>
            <a:r>
              <a:rPr lang="en-US" dirty="0" err="1"/>
              <a:t>searchPluginCodeHex</a:t>
            </a:r>
            <a:r>
              <a:rPr lang="en-US" dirty="0"/>
              <a:t>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Replace plugin manufacturer name "Sunny Synths -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D.Bontemps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 by the one of the panel to export (25 bytes so will be extended to 32 bytes in the vst3 file)</a:t>
            </a:r>
          </a:p>
          <a:p>
            <a:r>
              <a:rPr lang="en-US" dirty="0" err="1"/>
              <a:t>hexStringToBytes</a:t>
            </a:r>
            <a:r>
              <a:rPr lang="en-US" dirty="0"/>
              <a:t>("53 75 6E </a:t>
            </a:r>
            <a:r>
              <a:rPr lang="en-US" dirty="0" err="1"/>
              <a:t>6E</a:t>
            </a:r>
            <a:r>
              <a:rPr lang="en-US" dirty="0"/>
              <a:t> 79 20 53 79 6E 74 68 73 20 2D 20 44 2E 42 6F 6E 74 65 6D 70 73 00 00 00 00 00 00 00", </a:t>
            </a:r>
            <a:r>
              <a:rPr lang="en-US" dirty="0" err="1"/>
              <a:t>searchManufacturerNameHex</a:t>
            </a:r>
            <a:r>
              <a:rPr lang="en-US" dirty="0"/>
              <a:t>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Replace plugin manufacturer code "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SuSy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 by the one of the panel to export</a:t>
            </a:r>
          </a:p>
          <a:p>
            <a:r>
              <a:rPr lang="en-US" dirty="0" err="1"/>
              <a:t>hexStringToBytes</a:t>
            </a:r>
            <a:r>
              <a:rPr lang="en-US" dirty="0"/>
              <a:t>("53 75 53 79", </a:t>
            </a:r>
            <a:r>
              <a:rPr lang="en-US" dirty="0" err="1"/>
              <a:t>searchManufacturerCodeHex</a:t>
            </a:r>
            <a:r>
              <a:rPr lang="en-US" dirty="0"/>
              <a:t>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Replace plugin manufacturer email "sunny.synths@gmail.com   " by the one of the panel to export (written on 25 bytes with spaces to get 32 bytes in the vst3 file)</a:t>
            </a:r>
          </a:p>
          <a:p>
            <a:r>
              <a:rPr lang="en-US" dirty="0" err="1"/>
              <a:t>hexStringToBytes</a:t>
            </a:r>
            <a:r>
              <a:rPr lang="en-US" dirty="0"/>
              <a:t>("73 75 6E </a:t>
            </a:r>
            <a:r>
              <a:rPr lang="en-US" dirty="0" err="1"/>
              <a:t>6E</a:t>
            </a:r>
            <a:r>
              <a:rPr lang="en-US" dirty="0"/>
              <a:t> 79 2E 73 79 6E 74 68 73 40 67 6D 61 69 6C 2E 63 6F 6D 20 20 20 00 00 00 00 00 00 00", </a:t>
            </a:r>
            <a:r>
              <a:rPr lang="en-US" dirty="0" err="1"/>
              <a:t>searchManufacturerEmailHex</a:t>
            </a:r>
            <a:r>
              <a:rPr lang="en-US" dirty="0"/>
              <a:t>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Replace plugin manufacturer URL "www.sunnysynths.com      " by the one of the panel to export (written on 25 bytes with spaces to get 32 bytes in the vst3 file)</a:t>
            </a:r>
          </a:p>
          <a:p>
            <a:r>
              <a:rPr lang="en-US" dirty="0" err="1"/>
              <a:t>hexStringToBytes</a:t>
            </a:r>
            <a:r>
              <a:rPr lang="en-US" dirty="0"/>
              <a:t>("77 77 77 2E 73 75 6E </a:t>
            </a:r>
            <a:r>
              <a:rPr lang="en-US" dirty="0" err="1"/>
              <a:t>6E</a:t>
            </a:r>
            <a:r>
              <a:rPr lang="en-US" dirty="0"/>
              <a:t> 79 73 79 6E 74 68 73 2E 63 6F 6D 20 20 20 20 20 20 00 00 00 00 00 00 00", </a:t>
            </a:r>
            <a:r>
              <a:rPr lang="en-US" dirty="0" err="1"/>
              <a:t>searchManufacturerUrlHex</a:t>
            </a:r>
            <a:r>
              <a:rPr lang="en-US" dirty="0"/>
              <a:t>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Replace plugin type "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Instrument|Tools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 by the one of the panel to export</a:t>
            </a:r>
          </a:p>
          <a:p>
            <a:r>
              <a:rPr lang="en-US" dirty="0" err="1"/>
              <a:t>hexStringToBytes</a:t>
            </a:r>
            <a:r>
              <a:rPr lang="en-US" dirty="0"/>
              <a:t>("49 6E 73 74 72 75 6D 65 6E 74 7C 54 6F </a:t>
            </a:r>
            <a:r>
              <a:rPr lang="en-US" dirty="0" err="1"/>
              <a:t>6F</a:t>
            </a:r>
            <a:r>
              <a:rPr lang="en-US" dirty="0"/>
              <a:t> 6C 73", </a:t>
            </a:r>
            <a:r>
              <a:rPr lang="en-US" dirty="0" err="1"/>
              <a:t>searchPlugTypeHex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Keeping the version of CtrlrX in the panel export in order to know which CtrlrX version was used to export the panel.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This is useful for debugging and support purposes.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// The panel version can be displayed in the About panel of the plugin, or in the plugin's GUI, or in the plugin's settings.</a:t>
            </a:r>
            <a:endParaRPr lang="fr-BE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5C450A76-C3CA-D42A-970F-3DFD993E0897}"/>
              </a:ext>
            </a:extLst>
          </p:cNvPr>
          <p:cNvSpPr txBox="1"/>
          <p:nvPr/>
        </p:nvSpPr>
        <p:spPr>
          <a:xfrm>
            <a:off x="6095999" y="566163"/>
            <a:ext cx="4044043" cy="7694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noProof="1"/>
              <a:t>The Projucer property value has a number of bytes. The VST3 wrapper is extending it to a multiple of 8 bytes and fills with 0x00</a:t>
            </a:r>
          </a:p>
          <a:p>
            <a:r>
              <a:rPr lang="en-US" sz="1100" noProof="1"/>
              <a:t>It is thus needed to artificially extend some properties with spaces 0x20 in order to reach the next extension of 8 bytes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DF6E04B-9328-3F49-4049-DE73C63F4A1F}"/>
              </a:ext>
            </a:extLst>
          </p:cNvPr>
          <p:cNvSpPr txBox="1"/>
          <p:nvPr/>
        </p:nvSpPr>
        <p:spPr>
          <a:xfrm>
            <a:off x="3857955" y="904716"/>
            <a:ext cx="1415772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noProof="1"/>
              <a:t>Save, SaveAs, Exports</a:t>
            </a:r>
          </a:p>
        </p:txBody>
      </p:sp>
    </p:spTree>
    <p:extLst>
      <p:ext uri="{BB962C8B-B14F-4D97-AF65-F5344CB8AC3E}">
        <p14:creationId xmlns:p14="http://schemas.microsoft.com/office/powerpoint/2010/main" val="4059436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54A1-98EE-C385-881A-EC52E6A9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EF472-C7F8-5B72-3898-D8349C880830}"/>
              </a:ext>
            </a:extLst>
          </p:cNvPr>
          <p:cNvSpPr txBox="1"/>
          <p:nvPr/>
        </p:nvSpPr>
        <p:spPr>
          <a:xfrm>
            <a:off x="550506" y="335902"/>
            <a:ext cx="1831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questions...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2FE39EBF-C01A-E9B9-060E-712DF349639E}"/>
              </a:ext>
            </a:extLst>
          </p:cNvPr>
          <p:cNvSpPr/>
          <p:nvPr/>
        </p:nvSpPr>
        <p:spPr>
          <a:xfrm>
            <a:off x="643812" y="8864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0D397-D57F-4A86-BBD1-65616E4DDF85}"/>
              </a:ext>
            </a:extLst>
          </p:cNvPr>
          <p:cNvSpPr txBox="1"/>
          <p:nvPr/>
        </p:nvSpPr>
        <p:spPr>
          <a:xfrm>
            <a:off x="858416" y="895562"/>
            <a:ext cx="26100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CtrlrValueTreeEditor.cpp </a:t>
            </a:r>
            <a:r>
              <a:rPr lang="en-US" sz="1100" dirty="0"/>
              <a:t>in </a:t>
            </a:r>
            <a:r>
              <a:rPr lang="en-US" sz="1100" dirty="0" err="1"/>
              <a:t>UIComponents</a:t>
            </a:r>
            <a:endParaRPr lang="en-US" sz="1100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0F0221F-E4B1-5C49-012F-2441D416A5E9}"/>
              </a:ext>
            </a:extLst>
          </p:cNvPr>
          <p:cNvSpPr/>
          <p:nvPr/>
        </p:nvSpPr>
        <p:spPr>
          <a:xfrm>
            <a:off x="643812" y="1496008"/>
            <a:ext cx="214604" cy="279919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40356-1EC9-2224-A3FA-4D94333F257E}"/>
              </a:ext>
            </a:extLst>
          </p:cNvPr>
          <p:cNvSpPr txBox="1"/>
          <p:nvPr/>
        </p:nvSpPr>
        <p:spPr>
          <a:xfrm>
            <a:off x="858416" y="1505162"/>
            <a:ext cx="6431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... </a:t>
            </a:r>
            <a:r>
              <a:rPr lang="en-US" sz="1100" dirty="0"/>
              <a:t>in xxx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E84B2-113A-1986-977F-8BB4E57307F8}"/>
              </a:ext>
            </a:extLst>
          </p:cNvPr>
          <p:cNvSpPr txBox="1"/>
          <p:nvPr/>
        </p:nvSpPr>
        <p:spPr>
          <a:xfrm>
            <a:off x="3683030" y="886408"/>
            <a:ext cx="6933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noProof="1">
                <a:solidFill>
                  <a:srgbClr val="C00000"/>
                </a:solidFill>
              </a:rPr>
              <a:t>getItemWidth(), getItemHeight(), paintItem() </a:t>
            </a:r>
            <a:r>
              <a:rPr lang="en-US" sz="1200" noProof="1">
                <a:solidFill>
                  <a:srgbClr val="C00000"/>
                </a:solidFill>
              </a:rPr>
              <a:t>seem not used by anything in Ctrlr (VS2019: Find all references)</a:t>
            </a:r>
          </a:p>
          <a:p>
            <a:r>
              <a:rPr lang="en-US" sz="1200" i="1" noProof="1">
                <a:solidFill>
                  <a:srgbClr val="C00000"/>
                </a:solidFill>
              </a:rPr>
              <a:t>keyPressed()</a:t>
            </a:r>
            <a:r>
              <a:rPr lang="en-US" sz="1200" noProof="1">
                <a:solidFill>
                  <a:srgbClr val="C00000"/>
                </a:solidFill>
              </a:rPr>
              <a:t> is checking for F2 providing a “Rename method” but doesn’t perform the actual Rename</a:t>
            </a:r>
            <a:endParaRPr lang="en-US" sz="1200" i="1" noProof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663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38128</TotalTime>
  <Words>3908</Words>
  <Application>Microsoft Office PowerPoint</Application>
  <PresentationFormat>Grand écran</PresentationFormat>
  <Paragraphs>439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Ctrlr code structure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Bontemps Dominique</dc:creator>
  <cp:lastModifiedBy>Dominique</cp:lastModifiedBy>
  <cp:revision>66</cp:revision>
  <cp:lastPrinted>2024-04-10T13:26:21Z</cp:lastPrinted>
  <dcterms:created xsi:type="dcterms:W3CDTF">2024-04-10T11:07:34Z</dcterms:created>
  <dcterms:modified xsi:type="dcterms:W3CDTF">2026-09-13T18:04:45Z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540963-e559-4020-8a90-fe8a502c2801_Enabled">
    <vt:lpwstr>true</vt:lpwstr>
  </property>
  <property fmtid="{D5CDD505-2E9C-101B-9397-08002B2CF9AE}" pid="3" name="MSIP_Label_19540963-e559-4020-8a90-fe8a502c2801_SetDate">
    <vt:lpwstr>2024-04-10T11:07:36Z</vt:lpwstr>
  </property>
  <property fmtid="{D5CDD505-2E9C-101B-9397-08002B2CF9AE}" pid="4" name="MSIP_Label_19540963-e559-4020-8a90-fe8a502c2801_Method">
    <vt:lpwstr>Standard</vt:lpwstr>
  </property>
  <property fmtid="{D5CDD505-2E9C-101B-9397-08002B2CF9AE}" pid="5" name="MSIP_Label_19540963-e559-4020-8a90-fe8a502c2801_Name">
    <vt:lpwstr>19540963-e559-4020-8a90-fe8a502c2801</vt:lpwstr>
  </property>
  <property fmtid="{D5CDD505-2E9C-101B-9397-08002B2CF9AE}" pid="6" name="MSIP_Label_19540963-e559-4020-8a90-fe8a502c2801_SiteId">
    <vt:lpwstr>f25493ae-1c98-41d7-8a33-0be75f5fe603</vt:lpwstr>
  </property>
  <property fmtid="{D5CDD505-2E9C-101B-9397-08002B2CF9AE}" pid="7" name="MSIP_Label_19540963-e559-4020-8a90-fe8a502c2801_ActionId">
    <vt:lpwstr>13a4889d-b50f-43dd-aa9b-ca0d55e84b4f</vt:lpwstr>
  </property>
  <property fmtid="{D5CDD505-2E9C-101B-9397-08002B2CF9AE}" pid="8" name="MSIP_Label_19540963-e559-4020-8a90-fe8a502c2801_ContentBits">
    <vt:lpwstr>0</vt:lpwstr>
  </property>
</Properties>
</file>